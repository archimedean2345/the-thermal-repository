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90" r:id="rId4"/>
    <p:sldId id="291" r:id="rId5"/>
    <p:sldId id="292" r:id="rId6"/>
    <p:sldId id="293" r:id="rId7"/>
    <p:sldId id="294" r:id="rId8"/>
    <p:sldId id="295" r:id="rId9"/>
    <p:sldId id="297" r:id="rId10"/>
    <p:sldId id="298" r:id="rId11"/>
    <p:sldId id="305" r:id="rId12"/>
    <p:sldId id="300" r:id="rId13"/>
    <p:sldId id="299" r:id="rId14"/>
    <p:sldId id="301" r:id="rId15"/>
    <p:sldId id="304" r:id="rId16"/>
    <p:sldId id="302" r:id="rId17"/>
    <p:sldId id="289" r:id="rId1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71776" autoAdjust="0"/>
  </p:normalViewPr>
  <p:slideViewPr>
    <p:cSldViewPr snapToGrid="0">
      <p:cViewPr varScale="1">
        <p:scale>
          <a:sx n="79" d="100"/>
          <a:sy n="79" d="100"/>
        </p:scale>
        <p:origin x="202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Engineering\01%20Repos\The-thermal-repository\PF-srm-Chorrillo%20K1284\PFlammam%20ChorrilloV1%20K1284%20118sec%20-%20KNSU.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347227648"/>
        <c:axId val="347228040"/>
      </c:scatterChart>
      <c:valAx>
        <c:axId val="347227648"/>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47228040"/>
        <c:crosses val="autoZero"/>
        <c:crossBetween val="midCat"/>
      </c:valAx>
      <c:valAx>
        <c:axId val="34722804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47227648"/>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23/11/2025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419"/>
          </a:p>
        </p:txBody>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Lo que puedes ampliar oralmente:</a:t>
            </a:r>
            <a:endParaRPr lang="es-ES" dirty="0"/>
          </a:p>
          <a:p>
            <a:r>
              <a:rPr lang="es-ES" dirty="0"/>
              <a:t>Detalles sobre por qué la presión es dominante</a:t>
            </a:r>
          </a:p>
          <a:p>
            <a:r>
              <a:rPr lang="es-ES" dirty="0"/>
              <a:t>Explicación de </a:t>
            </a:r>
            <a:r>
              <a:rPr lang="es-ES" dirty="0" err="1"/>
              <a:t>strand</a:t>
            </a:r>
            <a:r>
              <a:rPr lang="es-ES" dirty="0"/>
              <a:t> </a:t>
            </a:r>
            <a:r>
              <a:rPr lang="es-ES" dirty="0" err="1"/>
              <a:t>burner</a:t>
            </a:r>
            <a:endParaRPr lang="es-ES" dirty="0"/>
          </a:p>
          <a:p>
            <a:r>
              <a:rPr lang="es-ES" dirty="0"/>
              <a:t>Ejemplos de discrepancias teórico-experimental</a:t>
            </a:r>
          </a:p>
          <a:p>
            <a:r>
              <a:rPr lang="es-ES" dirty="0"/>
              <a:t>¿Te funciona este enfoque o prefieres ajustar el contenido o el recurso visual?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224393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Para ampliar oralmente:</a:t>
            </a:r>
            <a:endParaRPr lang="es-ES" dirty="0"/>
          </a:p>
          <a:p>
            <a:r>
              <a:rPr lang="es-ES" dirty="0"/>
              <a:t>Detalles sobre coeficientes de convección</a:t>
            </a:r>
          </a:p>
          <a:p>
            <a:r>
              <a:rPr lang="es-ES" dirty="0"/>
              <a:t>Ejemplos de materiales aislantes</a:t>
            </a:r>
          </a:p>
          <a:p>
            <a:r>
              <a:rPr lang="es-ES" dirty="0"/>
              <a:t>Tipos específicos de vibraciones</a:t>
            </a:r>
          </a:p>
          <a:p>
            <a:endParaRPr lang="es-419" dirty="0"/>
          </a:p>
          <a:p>
            <a:r>
              <a:rPr lang="es-419" dirty="0"/>
              <a:t>Hacer mas grande la grafica y colocar en cada línea la imagen del motor</a:t>
            </a:r>
          </a:p>
        </p:txBody>
      </p:sp>
      <p:sp>
        <p:nvSpPr>
          <p:cNvPr id="4" name="Slide Number Placeholder 3"/>
          <p:cNvSpPr>
            <a:spLocks noGrp="1"/>
          </p:cNvSpPr>
          <p:nvPr>
            <p:ph type="sldNum" sz="quarter" idx="5"/>
          </p:nvPr>
        </p:nvSpPr>
        <p:spPr/>
        <p:txBody>
          <a:bodyPr/>
          <a:lstStyle/>
          <a:p>
            <a:fld id="{DB28F327-BEE5-45AC-9CE6-84AF0ACB1493}" type="slidenum">
              <a:rPr lang="es-MX" smtClean="0"/>
              <a:t>4</a:t>
            </a:fld>
            <a:endParaRPr lang="es-MX"/>
          </a:p>
        </p:txBody>
      </p:sp>
    </p:spTree>
    <p:extLst>
      <p:ext uri="{BB962C8B-B14F-4D97-AF65-F5344CB8AC3E}">
        <p14:creationId xmlns:p14="http://schemas.microsoft.com/office/powerpoint/2010/main" val="433699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n-US" b="1" dirty="0" err="1"/>
              <a:t>Elementos</a:t>
            </a:r>
            <a:r>
              <a:rPr lang="en-US" b="1" dirty="0"/>
              <a:t> </a:t>
            </a:r>
            <a:r>
              <a:rPr lang="en-US" b="1" dirty="0" err="1"/>
              <a:t>destacados</a:t>
            </a:r>
            <a:r>
              <a:rPr lang="en-US" b="1" dirty="0"/>
              <a:t>:</a:t>
            </a:r>
            <a:endParaRPr lang="en-US" dirty="0"/>
          </a:p>
          <a:p>
            <a:r>
              <a:rPr lang="en-US" dirty="0" err="1"/>
              <a:t>Aplicaciones</a:t>
            </a:r>
            <a:r>
              <a:rPr lang="en-US" dirty="0"/>
              <a:t> </a:t>
            </a:r>
            <a:r>
              <a:rPr lang="en-US" dirty="0" err="1"/>
              <a:t>múltiples</a:t>
            </a:r>
            <a:r>
              <a:rPr lang="en-US" dirty="0"/>
              <a:t> de </a:t>
            </a:r>
            <a:r>
              <a:rPr lang="en-US" dirty="0" err="1"/>
              <a:t>motores</a:t>
            </a:r>
            <a:r>
              <a:rPr lang="en-US" dirty="0"/>
              <a:t> </a:t>
            </a:r>
            <a:r>
              <a:rPr lang="en-US" dirty="0" err="1"/>
              <a:t>cohete</a:t>
            </a:r>
            <a:endParaRPr lang="en-US" dirty="0"/>
          </a:p>
          <a:p>
            <a:r>
              <a:rPr lang="en-US" dirty="0" err="1"/>
              <a:t>Enfoque</a:t>
            </a:r>
            <a:r>
              <a:rPr lang="en-US" dirty="0"/>
              <a:t> low-cost </a:t>
            </a:r>
            <a:r>
              <a:rPr lang="en-US" dirty="0" err="1"/>
              <a:t>por</a:t>
            </a:r>
            <a:r>
              <a:rPr lang="en-US" dirty="0"/>
              <a:t> </a:t>
            </a:r>
            <a:r>
              <a:rPr lang="en-US" dirty="0" err="1"/>
              <a:t>limitaciones</a:t>
            </a:r>
            <a:r>
              <a:rPr lang="en-US" dirty="0"/>
              <a:t> de </a:t>
            </a:r>
            <a:r>
              <a:rPr lang="en-US" dirty="0" err="1"/>
              <a:t>equipo</a:t>
            </a:r>
            <a:endParaRPr lang="en-US" dirty="0"/>
          </a:p>
          <a:p>
            <a:r>
              <a:rPr lang="en-US" dirty="0" err="1"/>
              <a:t>Objetivos</a:t>
            </a:r>
            <a:r>
              <a:rPr lang="en-US" dirty="0"/>
              <a:t> </a:t>
            </a:r>
            <a:r>
              <a:rPr lang="en-US" dirty="0" err="1"/>
              <a:t>académicos</a:t>
            </a:r>
            <a:r>
              <a:rPr lang="en-US" dirty="0"/>
              <a:t> vs </a:t>
            </a:r>
            <a:r>
              <a:rPr lang="en-US" dirty="0" err="1"/>
              <a:t>industriales</a:t>
            </a:r>
            <a:endParaRPr lang="en-US" dirty="0"/>
          </a:p>
          <a:p>
            <a:r>
              <a:rPr lang="es-ES" b="1" dirty="0"/>
              <a:t>Para ampliar oralmente:</a:t>
            </a:r>
            <a:endParaRPr lang="es-ES" dirty="0"/>
          </a:p>
          <a:p>
            <a:r>
              <a:rPr lang="es-ES" dirty="0"/>
              <a:t>Ejemplos específicos de equipos desactualizados</a:t>
            </a:r>
          </a:p>
          <a:p>
            <a:r>
              <a:rPr lang="es-ES" dirty="0"/>
              <a:t>Comparación con laboratorios de la industria</a:t>
            </a:r>
          </a:p>
          <a:p>
            <a:r>
              <a:rPr lang="es-ES" dirty="0"/>
              <a:t>Impacto en comunidad académica local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2199039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a:p>
            <a:r>
              <a:rPr lang="es-419" dirty="0"/>
              <a:t>Dividir esta lamina, para incorporar la grafica del empuje vs tiempo para explicar los conceptos </a:t>
            </a:r>
          </a:p>
        </p:txBody>
      </p:sp>
      <p:sp>
        <p:nvSpPr>
          <p:cNvPr id="4" name="Slide Number Placeholder 3"/>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228186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Termopar tipo K</a:t>
            </a:r>
            <a:br>
              <a:rPr lang="es-419" dirty="0"/>
            </a:br>
            <a:r>
              <a:rPr lang="es-419" dirty="0"/>
              <a:t>https://agelectronica.lat/pdfs/textos/O/OKY3076.PDF</a:t>
            </a:r>
          </a:p>
          <a:p>
            <a:endParaRPr lang="es-419" dirty="0"/>
          </a:p>
          <a:p>
            <a:r>
              <a:rPr lang="es-419" dirty="0"/>
              <a:t>Lectura a 1150°C</a:t>
            </a:r>
          </a:p>
          <a:p>
            <a:br>
              <a:rPr lang="es-419" dirty="0"/>
            </a:br>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1232004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23/11/2025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6.png"/><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6.png"/><Relationship Id="rId4" Type="http://schemas.openxmlformats.org/officeDocument/2006/relationships/image" Target="../media/image9.png"/><Relationship Id="rId9"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gif"/><Relationship Id="rId5" Type="http://schemas.openxmlformats.org/officeDocument/2006/relationships/image" Target="../media/image2.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1.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grpSp>
        <p:nvGrpSpPr>
          <p:cNvPr id="7" name="Group 6">
            <a:extLst>
              <a:ext uri="{FF2B5EF4-FFF2-40B4-BE49-F238E27FC236}">
                <a16:creationId xmlns:a16="http://schemas.microsoft.com/office/drawing/2014/main" id="{91E0EF01-5EF7-F741-67B7-7E7FC20A87D7}"/>
              </a:ext>
            </a:extLst>
          </p:cNvPr>
          <p:cNvGrpSpPr/>
          <p:nvPr/>
        </p:nvGrpSpPr>
        <p:grpSpPr>
          <a:xfrm>
            <a:off x="238842" y="5666029"/>
            <a:ext cx="3979742" cy="1463028"/>
            <a:chOff x="270740" y="5676661"/>
            <a:chExt cx="3979742" cy="1463028"/>
          </a:xfrm>
        </p:grpSpPr>
        <p:pic>
          <p:nvPicPr>
            <p:cNvPr id="4" name="Imagen 7">
              <a:extLst>
                <a:ext uri="{FF2B5EF4-FFF2-40B4-BE49-F238E27FC236}">
                  <a16:creationId xmlns:a16="http://schemas.microsoft.com/office/drawing/2014/main" id="{B2C155BD-CC25-5EBE-0829-626E659EB4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5" name="Imagen 11">
              <a:extLst>
                <a:ext uri="{FF2B5EF4-FFF2-40B4-BE49-F238E27FC236}">
                  <a16:creationId xmlns:a16="http://schemas.microsoft.com/office/drawing/2014/main" id="{5AB81FBA-70BE-D89F-5C53-9662921A1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6" name="Imagen 13">
              <a:extLst>
                <a:ext uri="{FF2B5EF4-FFF2-40B4-BE49-F238E27FC236}">
                  <a16:creationId xmlns:a16="http://schemas.microsoft.com/office/drawing/2014/main" id="{25118A5E-ED08-D694-86C6-1BF7CEB30C8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Problematica</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a:xfrm>
            <a:off x="825795" y="1489996"/>
            <a:ext cx="10515600" cy="898455"/>
          </a:xfrm>
        </p:spPr>
        <p:txBody>
          <a:bodyPr>
            <a:normAutofit/>
          </a:bodyPr>
          <a:lstStyle/>
          <a:p>
            <a:pPr marL="0" indent="0" algn="ctr">
              <a:buNone/>
            </a:pPr>
            <a:r>
              <a:rPr lang="es-419" dirty="0"/>
              <a:t>“</a:t>
            </a:r>
            <a:r>
              <a:rPr lang="es-419" i="1" dirty="0"/>
              <a:t>La correcta medición de la presión permite una mejor caracterización del sistema propulsivo” </a:t>
            </a:r>
          </a:p>
        </p:txBody>
      </p:sp>
      <p:grpSp>
        <p:nvGrpSpPr>
          <p:cNvPr id="4" name="Group 3">
            <a:extLst>
              <a:ext uri="{FF2B5EF4-FFF2-40B4-BE49-F238E27FC236}">
                <a16:creationId xmlns:a16="http://schemas.microsoft.com/office/drawing/2014/main" id="{08B302FD-C244-CC3A-1CC9-738A0CDA888E}"/>
              </a:ext>
            </a:extLst>
          </p:cNvPr>
          <p:cNvGrpSpPr/>
          <p:nvPr/>
        </p:nvGrpSpPr>
        <p:grpSpPr>
          <a:xfrm>
            <a:off x="134256" y="5761361"/>
            <a:ext cx="3979742" cy="1463028"/>
            <a:chOff x="270740" y="5676661"/>
            <a:chExt cx="3979742" cy="1463028"/>
          </a:xfrm>
        </p:grpSpPr>
        <p:pic>
          <p:nvPicPr>
            <p:cNvPr id="5" name="Imagen 7">
              <a:extLst>
                <a:ext uri="{FF2B5EF4-FFF2-40B4-BE49-F238E27FC236}">
                  <a16:creationId xmlns:a16="http://schemas.microsoft.com/office/drawing/2014/main" id="{463C658A-BD83-9BE3-D1F3-71076DC69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70AF1C6F-1A36-D571-C187-25E3EBA1C5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1AEBA4F5-4648-9E71-ECF3-8BF95B801D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6490F59-B497-671C-21CE-8607BE322CAB}"/>
                  </a:ext>
                </a:extLst>
              </p:cNvPr>
              <p:cNvSpPr txBox="1"/>
              <p:nvPr/>
            </p:nvSpPr>
            <p:spPr>
              <a:xfrm>
                <a:off x="1337930" y="2516369"/>
                <a:ext cx="4745665" cy="2210990"/>
              </a:xfrm>
              <a:prstGeom prst="rect">
                <a:avLst/>
              </a:prstGeom>
              <a:noFill/>
            </p:spPr>
            <p:txBody>
              <a:bodyPr wrap="square">
                <a:spAutoFit/>
              </a:bodyPr>
              <a:lstStyle/>
              <a:p>
                <a:pPr marL="0" indent="0">
                  <a:buNone/>
                </a:pPr>
                <a:r>
                  <a:rPr lang="es-MX" sz="20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𝐹</m:t>
                          </m:r>
                        </m:e>
                        <m:sub>
                          <m:r>
                            <a:rPr lang="es-MX" sz="1800" b="0" i="1" smtClean="0">
                              <a:latin typeface="Cambria Math" panose="02040503050406030204" pitchFamily="18" charset="0"/>
                              <a:cs typeface="Times New Roman" panose="02020603050405020304" pitchFamily="18" charset="0"/>
                            </a:rPr>
                            <m:t>𝑔𝑒𝑛</m:t>
                          </m:r>
                        </m:sub>
                      </m:sSub>
                      <m:r>
                        <a:rPr lang="es-MX" sz="1800" b="0" i="1" smtClean="0">
                          <a:latin typeface="Cambria Math" panose="02040503050406030204" pitchFamily="18" charset="0"/>
                          <a:cs typeface="Times New Roman" panose="02020603050405020304" pitchFamily="18" charset="0"/>
                        </a:rPr>
                        <m:t>=(</m:t>
                      </m:r>
                      <m:acc>
                        <m:accPr>
                          <m:chr m:val="̇"/>
                          <m:ctrlPr>
                            <a:rPr lang="es-MX" sz="1800" b="0" i="1" smtClean="0">
                              <a:latin typeface="Cambria Math" panose="02040503050406030204" pitchFamily="18" charset="0"/>
                              <a:cs typeface="Times New Roman" panose="02020603050405020304" pitchFamily="18" charset="0"/>
                            </a:rPr>
                          </m:ctrlPr>
                        </m:acc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0</m:t>
                              </m:r>
                            </m:sub>
                          </m:sSub>
                        </m:e>
                      </m:acc>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𝑓</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i="1">
                                      <a:latin typeface="Cambria Math" panose="02040503050406030204" pitchFamily="18" charset="0"/>
                                      <a:cs typeface="Times New Roman" panose="02020603050405020304" pitchFamily="18" charset="0"/>
                                    </a:rPr>
                                    <m:t>0</m:t>
                                  </m:r>
                                </m:sub>
                              </m:sSub>
                            </m:e>
                          </m:acc>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0</m:t>
                              </m:r>
                            </m:sub>
                          </m:sSub>
                          <m:r>
                            <a:rPr lang="es-MX" sz="1800" b="0" i="1" smtClean="0">
                              <a:latin typeface="Cambria Math" panose="02040503050406030204" pitchFamily="18" charset="0"/>
                              <a:cs typeface="Times New Roman" panose="02020603050405020304" pitchFamily="18" charset="0"/>
                            </a:rPr>
                            <m:t>+</m:t>
                          </m:r>
                          <m:d>
                            <m:dPr>
                              <m:ctrlPr>
                                <a:rPr lang="es-MX" sz="1800" b="0" i="1" smtClean="0">
                                  <a:latin typeface="Cambria Math" panose="02040503050406030204" pitchFamily="18" charset="0"/>
                                  <a:cs typeface="Times New Roman" panose="02020603050405020304" pitchFamily="18" charset="0"/>
                                </a:rPr>
                              </m:ctrlPr>
                            </m:d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0</m:t>
                                  </m:r>
                                </m:sub>
                              </m:sSub>
                            </m:e>
                          </m:d>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𝐴</m:t>
                              </m:r>
                            </m:e>
                            <m:sub>
                              <m:r>
                                <a:rPr lang="es-MX" sz="1800" b="0" i="1" smtClean="0">
                                  <a:latin typeface="Cambria Math" panose="02040503050406030204" pitchFamily="18" charset="0"/>
                                  <a:cs typeface="Times New Roman" panose="02020603050405020304" pitchFamily="18" charset="0"/>
                                </a:rPr>
                                <m:t>𝑒</m:t>
                              </m:r>
                            </m:sub>
                          </m:sSub>
                        </m:e>
                      </m:acc>
                    </m:oMath>
                  </m:oMathPara>
                </a14:m>
                <a:endParaRPr lang="es-MX" sz="2000" dirty="0">
                  <a:latin typeface="Times New Roman" panose="02020603050405020304" pitchFamily="18" charset="0"/>
                  <a:cs typeface="Times New Roman" panose="02020603050405020304" pitchFamily="18" charset="0"/>
                </a:endParaRPr>
              </a:p>
              <a:p>
                <a:pPr marL="0" indent="0">
                  <a:buNone/>
                </a:pPr>
                <a:r>
                  <a:rPr lang="es-MX" sz="2000" b="0" dirty="0">
                    <a:latin typeface="Times New Roman" panose="02020603050405020304" pitchFamily="18" charset="0"/>
                    <a:cs typeface="Times New Roman" panose="02020603050405020304" pitchFamily="18" charset="0"/>
                  </a:rPr>
                  <a:t>Re</a:t>
                </a:r>
                <a:r>
                  <a:rPr lang="es-MX" sz="2000" dirty="0">
                    <a:latin typeface="Times New Roman" panose="02020603050405020304" pitchFamily="18" charset="0"/>
                    <a:cs typeface="Times New Roman" panose="02020603050405020304" pitchFamily="18" charset="0"/>
                  </a:rPr>
                  <a:t>ducida para motores cohete, y derivada de un volumen de control:</a:t>
                </a:r>
                <a:endParaRPr lang="es-MX" sz="20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cs typeface="Times New Roman" panose="02020603050405020304" pitchFamily="18" charset="0"/>
                        </a:rPr>
                        <m:t>𝐹</m:t>
                      </m:r>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r>
                            <a:rPr lang="es-MX" sz="2000" b="0" i="1" smtClean="0">
                              <a:latin typeface="Cambria Math" panose="02040503050406030204" pitchFamily="18" charset="0"/>
                              <a:cs typeface="Times New Roman" panose="02020603050405020304" pitchFamily="18" charset="0"/>
                            </a:rPr>
                            <m:t>𝑚</m:t>
                          </m:r>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𝑣</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3</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2</m:t>
                          </m:r>
                        </m:sub>
                      </m:sSub>
                    </m:oMath>
                  </m:oMathPara>
                </a14:m>
                <a:endParaRPr lang="es-419" dirty="0"/>
              </a:p>
              <a:p>
                <a:pPr marL="0" indent="0">
                  <a:buNone/>
                </a:pPr>
                <a:r>
                  <a:rPr lang="es-419" dirty="0">
                    <a:latin typeface="Times New Roman" panose="02020603050405020304" pitchFamily="18" charset="0"/>
                    <a:cs typeface="Times New Roman" panose="02020603050405020304" pitchFamily="18" charset="0"/>
                  </a:rPr>
                  <a:t>Reduciendo a:</a:t>
                </a:r>
              </a:p>
              <a:p>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E6490F59-B497-671C-21CE-8607BE322CAB}"/>
                  </a:ext>
                </a:extLst>
              </p:cNvPr>
              <p:cNvSpPr txBox="1">
                <a:spLocks noRot="1" noChangeAspect="1" noMove="1" noResize="1" noEditPoints="1" noAdjustHandles="1" noChangeArrowheads="1" noChangeShapeType="1" noTextEdit="1"/>
              </p:cNvSpPr>
              <p:nvPr/>
            </p:nvSpPr>
            <p:spPr>
              <a:xfrm>
                <a:off x="1337930" y="2516369"/>
                <a:ext cx="4745665" cy="2210990"/>
              </a:xfrm>
              <a:prstGeom prst="rect">
                <a:avLst/>
              </a:prstGeom>
              <a:blipFill>
                <a:blip r:embed="rId6"/>
                <a:stretch>
                  <a:fillRect l="-1284" t="-1657" r="-2567" b="-552"/>
                </a:stretch>
              </a:blipFill>
            </p:spPr>
            <p:txBody>
              <a:bodyPr/>
              <a:lstStyle/>
              <a:p>
                <a:r>
                  <a:rPr lang="es-419">
                    <a:noFill/>
                  </a:rPr>
                  <a:t> </a:t>
                </a:r>
              </a:p>
            </p:txBody>
          </p:sp>
        </mc:Fallback>
      </mc:AlternateContent>
      <p:pic>
        <p:nvPicPr>
          <p:cNvPr id="10" name="Imagen 10">
            <a:extLst>
              <a:ext uri="{FF2B5EF4-FFF2-40B4-BE49-F238E27FC236}">
                <a16:creationId xmlns:a16="http://schemas.microsoft.com/office/drawing/2014/main" id="{06CD6875-AC60-6048-2FB4-12292553919A}"/>
              </a:ext>
            </a:extLst>
          </p:cNvPr>
          <p:cNvPicPr>
            <a:picLocks noChangeAspect="1"/>
          </p:cNvPicPr>
          <p:nvPr/>
        </p:nvPicPr>
        <p:blipFill>
          <a:blip r:embed="rId7"/>
          <a:stretch>
            <a:fillRect/>
          </a:stretch>
        </p:blipFill>
        <p:spPr>
          <a:xfrm>
            <a:off x="6453781" y="2345244"/>
            <a:ext cx="4084856" cy="2336155"/>
          </a:xfrm>
          <a:prstGeom prst="rect">
            <a:avLst/>
          </a:prstGeom>
        </p:spPr>
      </p:pic>
      <p:sp>
        <p:nvSpPr>
          <p:cNvPr id="11" name="CuadroTexto 18">
            <a:extLst>
              <a:ext uri="{FF2B5EF4-FFF2-40B4-BE49-F238E27FC236}">
                <a16:creationId xmlns:a16="http://schemas.microsoft.com/office/drawing/2014/main" id="{C3416965-6BAC-EF75-A0D8-44E244C820C1}"/>
              </a:ext>
            </a:extLst>
          </p:cNvPr>
          <p:cNvSpPr txBox="1"/>
          <p:nvPr/>
        </p:nvSpPr>
        <p:spPr>
          <a:xfrm>
            <a:off x="6997995" y="4634080"/>
            <a:ext cx="3540642" cy="369332"/>
          </a:xfrm>
          <a:prstGeom prst="rect">
            <a:avLst/>
          </a:prstGeom>
          <a:noFill/>
        </p:spPr>
        <p:txBody>
          <a:bodyPr wrap="square" rtlCol="0">
            <a:spAutoFit/>
          </a:bodyPr>
          <a:lstStyle/>
          <a:p>
            <a:pPr algn="r"/>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32)</a:t>
            </a:r>
          </a:p>
        </p:txBody>
      </p:sp>
      <p:sp>
        <p:nvSpPr>
          <p:cNvPr id="12" name="Rectangle 11">
            <a:extLst>
              <a:ext uri="{FF2B5EF4-FFF2-40B4-BE49-F238E27FC236}">
                <a16:creationId xmlns:a16="http://schemas.microsoft.com/office/drawing/2014/main" id="{F13DB901-9CD5-2CCD-4FCA-49F048534096}"/>
              </a:ext>
            </a:extLst>
          </p:cNvPr>
          <p:cNvSpPr/>
          <p:nvPr/>
        </p:nvSpPr>
        <p:spPr>
          <a:xfrm>
            <a:off x="2124127"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Combustible solido</a:t>
            </a:r>
          </a:p>
        </p:txBody>
      </p:sp>
      <p:sp>
        <p:nvSpPr>
          <p:cNvPr id="13" name="Rectangle 12">
            <a:extLst>
              <a:ext uri="{FF2B5EF4-FFF2-40B4-BE49-F238E27FC236}">
                <a16:creationId xmlns:a16="http://schemas.microsoft.com/office/drawing/2014/main" id="{E29DA15F-4305-938B-F69A-CD80040B91CB}"/>
              </a:ext>
            </a:extLst>
          </p:cNvPr>
          <p:cNvSpPr/>
          <p:nvPr/>
        </p:nvSpPr>
        <p:spPr>
          <a:xfrm>
            <a:off x="4389082"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Taza de quemado</a:t>
            </a:r>
          </a:p>
        </p:txBody>
      </p:sp>
      <p:sp>
        <p:nvSpPr>
          <p:cNvPr id="14" name="Rectangle 13">
            <a:extLst>
              <a:ext uri="{FF2B5EF4-FFF2-40B4-BE49-F238E27FC236}">
                <a16:creationId xmlns:a16="http://schemas.microsoft.com/office/drawing/2014/main" id="{ED1D1358-50A8-3A7E-EAAC-7E0D69D835DF}"/>
              </a:ext>
            </a:extLst>
          </p:cNvPr>
          <p:cNvSpPr/>
          <p:nvPr/>
        </p:nvSpPr>
        <p:spPr>
          <a:xfrm>
            <a:off x="6654037"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Presión de cámara</a:t>
            </a:r>
          </a:p>
        </p:txBody>
      </p:sp>
      <p:sp>
        <p:nvSpPr>
          <p:cNvPr id="15" name="Rectangle 14">
            <a:extLst>
              <a:ext uri="{FF2B5EF4-FFF2-40B4-BE49-F238E27FC236}">
                <a16:creationId xmlns:a16="http://schemas.microsoft.com/office/drawing/2014/main" id="{C950D674-314E-B935-7B8F-15B589465341}"/>
              </a:ext>
            </a:extLst>
          </p:cNvPr>
          <p:cNvSpPr/>
          <p:nvPr/>
        </p:nvSpPr>
        <p:spPr>
          <a:xfrm>
            <a:off x="8918992"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Empuje</a:t>
            </a:r>
          </a:p>
        </p:txBody>
      </p:sp>
      <p:sp>
        <p:nvSpPr>
          <p:cNvPr id="16" name="TextBox 15">
            <a:extLst>
              <a:ext uri="{FF2B5EF4-FFF2-40B4-BE49-F238E27FC236}">
                <a16:creationId xmlns:a16="http://schemas.microsoft.com/office/drawing/2014/main" id="{056E56E6-F9E1-2500-292B-F6D79B4682F2}"/>
              </a:ext>
            </a:extLst>
          </p:cNvPr>
          <p:cNvSpPr txBox="1"/>
          <p:nvPr/>
        </p:nvSpPr>
        <p:spPr>
          <a:xfrm>
            <a:off x="4484606" y="5900818"/>
            <a:ext cx="1428596" cy="369332"/>
          </a:xfrm>
          <a:prstGeom prst="rect">
            <a:avLst/>
          </a:prstGeom>
          <a:noFill/>
        </p:spPr>
        <p:txBody>
          <a:bodyPr wrap="none" rtlCol="0">
            <a:spAutoFit/>
          </a:bodyPr>
          <a:lstStyle/>
          <a:p>
            <a:r>
              <a:rPr lang="es-419" dirty="0">
                <a:latin typeface="Times New Roman" panose="02020603050405020304" pitchFamily="18" charset="0"/>
                <a:cs typeface="Times New Roman" panose="02020603050405020304" pitchFamily="18" charset="0"/>
              </a:rPr>
              <a:t>Experimental</a:t>
            </a:r>
          </a:p>
        </p:txBody>
      </p:sp>
      <p:cxnSp>
        <p:nvCxnSpPr>
          <p:cNvPr id="18" name="Straight Arrow Connector 17">
            <a:extLst>
              <a:ext uri="{FF2B5EF4-FFF2-40B4-BE49-F238E27FC236}">
                <a16:creationId xmlns:a16="http://schemas.microsoft.com/office/drawing/2014/main" id="{9D0F36FE-4B7D-646F-BAF4-A194CE2CABBD}"/>
              </a:ext>
            </a:extLst>
          </p:cNvPr>
          <p:cNvCxnSpPr>
            <a:stCxn id="12" idx="3"/>
            <a:endCxn id="13" idx="1"/>
          </p:cNvCxnSpPr>
          <p:nvPr/>
        </p:nvCxnSpPr>
        <p:spPr>
          <a:xfrm>
            <a:off x="3743772" y="5586943"/>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9D3EFEC-0C2F-EA15-E129-DF44C5A24B73}"/>
              </a:ext>
            </a:extLst>
          </p:cNvPr>
          <p:cNvCxnSpPr>
            <a:stCxn id="13" idx="3"/>
            <a:endCxn id="14" idx="1"/>
          </p:cNvCxnSpPr>
          <p:nvPr/>
        </p:nvCxnSpPr>
        <p:spPr>
          <a:xfrm flipV="1">
            <a:off x="6008727" y="5585362"/>
            <a:ext cx="645310" cy="158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F348B4E-E3C0-ED92-A5BC-AB7CD463B260}"/>
              </a:ext>
            </a:extLst>
          </p:cNvPr>
          <p:cNvCxnSpPr>
            <a:stCxn id="14" idx="3"/>
            <a:endCxn id="15" idx="1"/>
          </p:cNvCxnSpPr>
          <p:nvPr/>
        </p:nvCxnSpPr>
        <p:spPr>
          <a:xfrm>
            <a:off x="8273682" y="5585362"/>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Problemática – alcance y limitaciones</a:t>
            </a:r>
          </a:p>
        </p:txBody>
      </p:sp>
      <p:sp>
        <p:nvSpPr>
          <p:cNvPr id="4" name="Content Placeholder 2">
            <a:extLst>
              <a:ext uri="{FF2B5EF4-FFF2-40B4-BE49-F238E27FC236}">
                <a16:creationId xmlns:a16="http://schemas.microsoft.com/office/drawing/2014/main" id="{B79D1C2C-20AB-488B-22DA-C3FC060A49A7}"/>
              </a:ext>
            </a:extLst>
          </p:cNvPr>
          <p:cNvSpPr txBox="1">
            <a:spLocks/>
          </p:cNvSpPr>
          <p:nvPr/>
        </p:nvSpPr>
        <p:spPr>
          <a:xfrm>
            <a:off x="6253716" y="1825625"/>
            <a:ext cx="5257800" cy="523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s-419" dirty="0">
                <a:latin typeface="Times New Roman" panose="02020603050405020304" pitchFamily="18" charset="0"/>
                <a:cs typeface="Times New Roman" panose="02020603050405020304" pitchFamily="18" charset="0"/>
              </a:rPr>
              <a:t>Sistema estático vs dinámico </a:t>
            </a:r>
          </a:p>
        </p:txBody>
      </p:sp>
      <p:pic>
        <p:nvPicPr>
          <p:cNvPr id="9" name="Picture 8">
            <a:extLst>
              <a:ext uri="{FF2B5EF4-FFF2-40B4-BE49-F238E27FC236}">
                <a16:creationId xmlns:a16="http://schemas.microsoft.com/office/drawing/2014/main" id="{13709654-5ACE-63E1-0D1D-970FBE294D67}"/>
              </a:ext>
            </a:extLst>
          </p:cNvPr>
          <p:cNvPicPr>
            <a:picLocks noChangeAspect="1"/>
          </p:cNvPicPr>
          <p:nvPr/>
        </p:nvPicPr>
        <p:blipFill>
          <a:blip r:embed="rId3"/>
          <a:stretch>
            <a:fillRect/>
          </a:stretch>
        </p:blipFill>
        <p:spPr>
          <a:xfrm>
            <a:off x="741629" y="1640975"/>
            <a:ext cx="5353869" cy="4170099"/>
          </a:xfrm>
          <a:prstGeom prst="rect">
            <a:avLst/>
          </a:prstGeom>
        </p:spPr>
      </p:pic>
      <p:grpSp>
        <p:nvGrpSpPr>
          <p:cNvPr id="3" name="Group 2">
            <a:extLst>
              <a:ext uri="{FF2B5EF4-FFF2-40B4-BE49-F238E27FC236}">
                <a16:creationId xmlns:a16="http://schemas.microsoft.com/office/drawing/2014/main" id="{44C831A7-8B55-BDDF-DF30-A1D6E4F496DD}"/>
              </a:ext>
            </a:extLst>
          </p:cNvPr>
          <p:cNvGrpSpPr/>
          <p:nvPr/>
        </p:nvGrpSpPr>
        <p:grpSpPr>
          <a:xfrm>
            <a:off x="4778004" y="2935279"/>
            <a:ext cx="894473" cy="520706"/>
            <a:chOff x="1148317" y="1731592"/>
            <a:chExt cx="1746397" cy="1270198"/>
          </a:xfrm>
        </p:grpSpPr>
        <p:grpSp>
          <p:nvGrpSpPr>
            <p:cNvPr id="12" name="Group 11">
              <a:extLst>
                <a:ext uri="{FF2B5EF4-FFF2-40B4-BE49-F238E27FC236}">
                  <a16:creationId xmlns:a16="http://schemas.microsoft.com/office/drawing/2014/main" id="{3C4561C3-4895-885C-5D3F-1AD1C8FD5D87}"/>
                </a:ext>
              </a:extLst>
            </p:cNvPr>
            <p:cNvGrpSpPr/>
            <p:nvPr/>
          </p:nvGrpSpPr>
          <p:grpSpPr>
            <a:xfrm>
              <a:off x="1148317" y="2268143"/>
              <a:ext cx="1746397" cy="733647"/>
              <a:chOff x="1233377" y="2268143"/>
              <a:chExt cx="1746397" cy="733647"/>
            </a:xfrm>
          </p:grpSpPr>
          <p:sp>
            <p:nvSpPr>
              <p:cNvPr id="11" name="Isosceles Triangle 10">
                <a:extLst>
                  <a:ext uri="{FF2B5EF4-FFF2-40B4-BE49-F238E27FC236}">
                    <a16:creationId xmlns:a16="http://schemas.microsoft.com/office/drawing/2014/main" id="{BD3211EC-E8F6-35E1-B966-B260D69B7662}"/>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0" name="Rectangle 9">
                <a:extLst>
                  <a:ext uri="{FF2B5EF4-FFF2-40B4-BE49-F238E27FC236}">
                    <a16:creationId xmlns:a16="http://schemas.microsoft.com/office/drawing/2014/main" id="{56D78A64-B132-9E5E-35BA-4F9105808455}"/>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30E75655-C86B-17C4-00D1-B2E30931A5F3}"/>
                    </a:ext>
                  </a:extLst>
                </p:cNvPr>
                <p:cNvSpPr txBox="1"/>
                <p:nvPr/>
              </p:nvSpPr>
              <p:spPr>
                <a:xfrm>
                  <a:off x="1210805" y="1731592"/>
                  <a:ext cx="651543" cy="4034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b="0" i="1" smtClean="0">
                                <a:latin typeface="Cambria Math" panose="02040503050406030204" pitchFamily="18" charset="0"/>
                              </a:rPr>
                              <m:t>𝑉</m:t>
                            </m:r>
                          </m:e>
                        </m:acc>
                        <m:r>
                          <a:rPr lang="es-419" sz="1200" b="0" i="1" smtClean="0">
                            <a:latin typeface="Cambria Math" panose="02040503050406030204" pitchFamily="18" charset="0"/>
                          </a:rPr>
                          <m:t>=0</m:t>
                        </m:r>
                      </m:oMath>
                    </m:oMathPara>
                  </a14:m>
                  <a:endParaRPr lang="es-419" sz="1200" dirty="0"/>
                </a:p>
              </p:txBody>
            </p:sp>
          </mc:Choice>
          <mc:Fallback>
            <p:sp>
              <p:nvSpPr>
                <p:cNvPr id="17" name="TextBox 16">
                  <a:extLst>
                    <a:ext uri="{FF2B5EF4-FFF2-40B4-BE49-F238E27FC236}">
                      <a16:creationId xmlns:a16="http://schemas.microsoft.com/office/drawing/2014/main" id="{30E75655-C86B-17C4-00D1-B2E30931A5F3}"/>
                    </a:ext>
                  </a:extLst>
                </p:cNvPr>
                <p:cNvSpPr txBox="1">
                  <a:spLocks noRot="1" noChangeAspect="1" noMove="1" noResize="1" noEditPoints="1" noAdjustHandles="1" noChangeArrowheads="1" noChangeShapeType="1" noTextEdit="1"/>
                </p:cNvSpPr>
                <p:nvPr/>
              </p:nvSpPr>
              <p:spPr>
                <a:xfrm>
                  <a:off x="1210805" y="1731592"/>
                  <a:ext cx="651543" cy="403432"/>
                </a:xfrm>
                <a:prstGeom prst="rect">
                  <a:avLst/>
                </a:prstGeom>
                <a:blipFill>
                  <a:blip r:embed="rId4"/>
                  <a:stretch>
                    <a:fillRect l="-16364" r="-30909" b="-33333"/>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146E18D6-91E9-B427-5774-5AE9A4C2A4CD}"/>
                    </a:ext>
                  </a:extLst>
                </p:cNvPr>
                <p:cNvSpPr txBox="1"/>
                <p:nvPr/>
              </p:nvSpPr>
              <p:spPr>
                <a:xfrm>
                  <a:off x="2159897" y="1770422"/>
                  <a:ext cx="674175" cy="3597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i="1" smtClean="0">
                                <a:latin typeface="Cambria Math" panose="02040503050406030204" pitchFamily="18" charset="0"/>
                                <a:ea typeface="Cambria Math" panose="02040503050406030204" pitchFamily="18" charset="0"/>
                              </a:rPr>
                              <m:t>𝜔</m:t>
                            </m:r>
                          </m:e>
                        </m:acc>
                        <m:r>
                          <a:rPr lang="es-419" sz="1200" b="0" i="1" smtClean="0">
                            <a:latin typeface="Cambria Math" panose="02040503050406030204" pitchFamily="18" charset="0"/>
                          </a:rPr>
                          <m:t>=0</m:t>
                        </m:r>
                      </m:oMath>
                    </m:oMathPara>
                  </a14:m>
                  <a:endParaRPr lang="es-419" sz="1200" dirty="0"/>
                </a:p>
              </p:txBody>
            </p:sp>
          </mc:Choice>
          <mc:Fallback>
            <p:sp>
              <p:nvSpPr>
                <p:cNvPr id="19" name="TextBox 18">
                  <a:extLst>
                    <a:ext uri="{FF2B5EF4-FFF2-40B4-BE49-F238E27FC236}">
                      <a16:creationId xmlns:a16="http://schemas.microsoft.com/office/drawing/2014/main" id="{146E18D6-91E9-B427-5774-5AE9A4C2A4CD}"/>
                    </a:ext>
                  </a:extLst>
                </p:cNvPr>
                <p:cNvSpPr txBox="1">
                  <a:spLocks noRot="1" noChangeAspect="1" noMove="1" noResize="1" noEditPoints="1" noAdjustHandles="1" noChangeArrowheads="1" noChangeShapeType="1" noTextEdit="1"/>
                </p:cNvSpPr>
                <p:nvPr/>
              </p:nvSpPr>
              <p:spPr>
                <a:xfrm>
                  <a:off x="2159897" y="1770422"/>
                  <a:ext cx="674175" cy="359715"/>
                </a:xfrm>
                <a:prstGeom prst="rect">
                  <a:avLst/>
                </a:prstGeom>
                <a:blipFill>
                  <a:blip r:embed="rId5"/>
                  <a:stretch>
                    <a:fillRect l="-12500" r="-32143" b="-33333"/>
                  </a:stretch>
                </a:blipFill>
              </p:spPr>
              <p:txBody>
                <a:bodyPr/>
                <a:lstStyle/>
                <a:p>
                  <a:r>
                    <a:rPr lang="es-419">
                      <a:noFill/>
                    </a:rPr>
                    <a:t> </a:t>
                  </a:r>
                </a:p>
              </p:txBody>
            </p:sp>
          </mc:Fallback>
        </mc:AlternateContent>
      </p:grpSp>
      <p:grpSp>
        <p:nvGrpSpPr>
          <p:cNvPr id="5" name="Group 4">
            <a:extLst>
              <a:ext uri="{FF2B5EF4-FFF2-40B4-BE49-F238E27FC236}">
                <a16:creationId xmlns:a16="http://schemas.microsoft.com/office/drawing/2014/main" id="{D7E7E744-3E3E-26D1-23A2-AE537B8C174A}"/>
              </a:ext>
            </a:extLst>
          </p:cNvPr>
          <p:cNvGrpSpPr/>
          <p:nvPr/>
        </p:nvGrpSpPr>
        <p:grpSpPr>
          <a:xfrm>
            <a:off x="4627788" y="2170093"/>
            <a:ext cx="1099347" cy="579234"/>
            <a:chOff x="3215525" y="1613167"/>
            <a:chExt cx="2295326" cy="1367181"/>
          </a:xfrm>
        </p:grpSpPr>
        <p:grpSp>
          <p:nvGrpSpPr>
            <p:cNvPr id="13" name="Group 12">
              <a:extLst>
                <a:ext uri="{FF2B5EF4-FFF2-40B4-BE49-F238E27FC236}">
                  <a16:creationId xmlns:a16="http://schemas.microsoft.com/office/drawing/2014/main" id="{6072978C-BFD8-3690-827F-7703F392C4F8}"/>
                </a:ext>
              </a:extLst>
            </p:cNvPr>
            <p:cNvGrpSpPr/>
            <p:nvPr/>
          </p:nvGrpSpPr>
          <p:grpSpPr>
            <a:xfrm>
              <a:off x="3764454" y="2246701"/>
              <a:ext cx="1746397" cy="733647"/>
              <a:chOff x="1233377" y="2268143"/>
              <a:chExt cx="1746397" cy="733647"/>
            </a:xfrm>
          </p:grpSpPr>
          <p:sp>
            <p:nvSpPr>
              <p:cNvPr id="14" name="Isosceles Triangle 13">
                <a:extLst>
                  <a:ext uri="{FF2B5EF4-FFF2-40B4-BE49-F238E27FC236}">
                    <a16:creationId xmlns:a16="http://schemas.microsoft.com/office/drawing/2014/main" id="{C05116A4-8318-B460-3BF6-D9C1209BC116}"/>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5" name="Rectangle 14">
                <a:extLst>
                  <a:ext uri="{FF2B5EF4-FFF2-40B4-BE49-F238E27FC236}">
                    <a16:creationId xmlns:a16="http://schemas.microsoft.com/office/drawing/2014/main" id="{4C4084B4-9EEE-37EA-F2E7-47C43FE45F98}"/>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4A543EA-E6F8-1E0F-4E74-2502BA9A6B8C}"/>
                    </a:ext>
                  </a:extLst>
                </p:cNvPr>
                <p:cNvSpPr txBox="1"/>
                <p:nvPr/>
              </p:nvSpPr>
              <p:spPr>
                <a:xfrm>
                  <a:off x="4629254" y="1613167"/>
                  <a:ext cx="657404" cy="22206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b="0" i="1" smtClean="0">
                                <a:latin typeface="Cambria Math" panose="02040503050406030204" pitchFamily="18" charset="0"/>
                              </a:rPr>
                              <m:t>𝑉</m:t>
                            </m:r>
                          </m:e>
                        </m:acc>
                        <m:r>
                          <a:rPr lang="es-419" sz="1200" i="1">
                            <a:latin typeface="Cambria Math" panose="02040503050406030204" pitchFamily="18" charset="0"/>
                            <a:ea typeface="Cambria Math" panose="02040503050406030204" pitchFamily="18" charset="0"/>
                          </a:rPr>
                          <m:t>≠</m:t>
                        </m:r>
                        <m:r>
                          <a:rPr lang="es-419" sz="1200" b="0" i="1" smtClean="0">
                            <a:latin typeface="Cambria Math" panose="02040503050406030204" pitchFamily="18" charset="0"/>
                            <a:ea typeface="Cambria Math" panose="02040503050406030204" pitchFamily="18" charset="0"/>
                          </a:rPr>
                          <m:t>0</m:t>
                        </m:r>
                      </m:oMath>
                    </m:oMathPara>
                  </a14:m>
                  <a:endParaRPr lang="es-419" sz="1200" dirty="0"/>
                </a:p>
              </p:txBody>
            </p:sp>
          </mc:Choice>
          <mc:Fallback>
            <p:sp>
              <p:nvSpPr>
                <p:cNvPr id="18" name="TextBox 17">
                  <a:extLst>
                    <a:ext uri="{FF2B5EF4-FFF2-40B4-BE49-F238E27FC236}">
                      <a16:creationId xmlns:a16="http://schemas.microsoft.com/office/drawing/2014/main" id="{24A543EA-E6F8-1E0F-4E74-2502BA9A6B8C}"/>
                    </a:ext>
                  </a:extLst>
                </p:cNvPr>
                <p:cNvSpPr txBox="1">
                  <a:spLocks noRot="1" noChangeAspect="1" noMove="1" noResize="1" noEditPoints="1" noAdjustHandles="1" noChangeArrowheads="1" noChangeShapeType="1" noTextEdit="1"/>
                </p:cNvSpPr>
                <p:nvPr/>
              </p:nvSpPr>
              <p:spPr>
                <a:xfrm>
                  <a:off x="4629254" y="1613167"/>
                  <a:ext cx="657404" cy="222062"/>
                </a:xfrm>
                <a:prstGeom prst="rect">
                  <a:avLst/>
                </a:prstGeom>
                <a:blipFill>
                  <a:blip r:embed="rId6"/>
                  <a:stretch>
                    <a:fillRect l="-17308" r="-38462" b="-140000"/>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529127DD-860C-7770-BCA4-82DD807FFCD8}"/>
                    </a:ext>
                  </a:extLst>
                </p:cNvPr>
                <p:cNvSpPr txBox="1"/>
                <p:nvPr/>
              </p:nvSpPr>
              <p:spPr>
                <a:xfrm>
                  <a:off x="3394482" y="1664007"/>
                  <a:ext cx="680240" cy="1980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i="1" smtClean="0">
                                <a:latin typeface="Cambria Math" panose="02040503050406030204" pitchFamily="18" charset="0"/>
                                <a:ea typeface="Cambria Math" panose="02040503050406030204" pitchFamily="18" charset="0"/>
                              </a:rPr>
                              <m:t>𝜔</m:t>
                            </m:r>
                          </m:e>
                        </m:acc>
                        <m:r>
                          <a:rPr lang="es-419" sz="1200" i="1">
                            <a:latin typeface="Cambria Math" panose="02040503050406030204" pitchFamily="18" charset="0"/>
                            <a:ea typeface="Cambria Math" panose="02040503050406030204" pitchFamily="18" charset="0"/>
                          </a:rPr>
                          <m:t>≠</m:t>
                        </m:r>
                        <m:r>
                          <a:rPr lang="es-419" sz="1200" b="0" i="1" smtClean="0">
                            <a:latin typeface="Cambria Math" panose="02040503050406030204" pitchFamily="18" charset="0"/>
                          </a:rPr>
                          <m:t>0</m:t>
                        </m:r>
                      </m:oMath>
                    </m:oMathPara>
                  </a14:m>
                  <a:endParaRPr lang="es-419" sz="1200" dirty="0"/>
                </a:p>
              </p:txBody>
            </p:sp>
          </mc:Choice>
          <mc:Fallback>
            <p:sp>
              <p:nvSpPr>
                <p:cNvPr id="20" name="TextBox 19">
                  <a:extLst>
                    <a:ext uri="{FF2B5EF4-FFF2-40B4-BE49-F238E27FC236}">
                      <a16:creationId xmlns:a16="http://schemas.microsoft.com/office/drawing/2014/main" id="{529127DD-860C-7770-BCA4-82DD807FFCD8}"/>
                    </a:ext>
                  </a:extLst>
                </p:cNvPr>
                <p:cNvSpPr txBox="1">
                  <a:spLocks noRot="1" noChangeAspect="1" noMove="1" noResize="1" noEditPoints="1" noAdjustHandles="1" noChangeArrowheads="1" noChangeShapeType="1" noTextEdit="1"/>
                </p:cNvSpPr>
                <p:nvPr/>
              </p:nvSpPr>
              <p:spPr>
                <a:xfrm>
                  <a:off x="3394482" y="1664007"/>
                  <a:ext cx="680240" cy="198001"/>
                </a:xfrm>
                <a:prstGeom prst="rect">
                  <a:avLst/>
                </a:prstGeom>
                <a:blipFill>
                  <a:blip r:embed="rId7"/>
                  <a:stretch>
                    <a:fillRect l="-11111" r="-37037" b="-146154"/>
                  </a:stretch>
                </a:blipFill>
              </p:spPr>
              <p:txBody>
                <a:bodyPr/>
                <a:lstStyle/>
                <a:p>
                  <a:r>
                    <a:rPr lang="es-419">
                      <a:noFill/>
                    </a:rPr>
                    <a:t> </a:t>
                  </a:r>
                </a:p>
              </p:txBody>
            </p:sp>
          </mc:Fallback>
        </mc:AlternateContent>
        <p:cxnSp>
          <p:nvCxnSpPr>
            <p:cNvPr id="22" name="Straight Arrow Connector 21">
              <a:extLst>
                <a:ext uri="{FF2B5EF4-FFF2-40B4-BE49-F238E27FC236}">
                  <a16:creationId xmlns:a16="http://schemas.microsoft.com/office/drawing/2014/main" id="{5C6E93B4-2171-D8DC-1359-0C40672405DF}"/>
                </a:ext>
              </a:extLst>
            </p:cNvPr>
            <p:cNvCxnSpPr>
              <a:stCxn id="15" idx="1"/>
            </p:cNvCxnSpPr>
            <p:nvPr/>
          </p:nvCxnSpPr>
          <p:spPr>
            <a:xfrm flipH="1" flipV="1">
              <a:off x="3215525" y="2613525"/>
              <a:ext cx="548929" cy="19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E6C853A7-CF8E-BFFC-BF6F-6913FADDA371}"/>
                </a:ext>
              </a:extLst>
            </p:cNvPr>
            <p:cNvCxnSpPr>
              <a:cxnSpLocks/>
              <a:stCxn id="15" idx="2"/>
            </p:cNvCxnSpPr>
            <p:nvPr/>
          </p:nvCxnSpPr>
          <p:spPr>
            <a:xfrm rot="5400000" flipH="1" flipV="1">
              <a:off x="4456750" y="2401301"/>
              <a:ext cx="553192" cy="449227"/>
            </a:xfrm>
            <a:prstGeom prst="curvedConnector3">
              <a:avLst>
                <a:gd name="adj1" fmla="val -41324"/>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8" name="CuadroTexto 18">
            <a:extLst>
              <a:ext uri="{FF2B5EF4-FFF2-40B4-BE49-F238E27FC236}">
                <a16:creationId xmlns:a16="http://schemas.microsoft.com/office/drawing/2014/main" id="{0E43CF0E-5556-E695-89C5-87900A390E37}"/>
              </a:ext>
            </a:extLst>
          </p:cNvPr>
          <p:cNvSpPr txBox="1"/>
          <p:nvPr/>
        </p:nvSpPr>
        <p:spPr>
          <a:xfrm>
            <a:off x="7813158" y="5992297"/>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115)</a:t>
            </a:r>
          </a:p>
        </p:txBody>
      </p:sp>
      <p:graphicFrame>
        <p:nvGraphicFramePr>
          <p:cNvPr id="29" name="Table 28">
            <a:extLst>
              <a:ext uri="{FF2B5EF4-FFF2-40B4-BE49-F238E27FC236}">
                <a16:creationId xmlns:a16="http://schemas.microsoft.com/office/drawing/2014/main" id="{D4639491-FC5C-40CA-F9F3-9ACC69C5486C}"/>
              </a:ext>
            </a:extLst>
          </p:cNvPr>
          <p:cNvGraphicFramePr>
            <a:graphicFrameLocks noGrp="1"/>
          </p:cNvGraphicFramePr>
          <p:nvPr>
            <p:extLst>
              <p:ext uri="{D42A27DB-BD31-4B8C-83A1-F6EECF244321}">
                <p14:modId xmlns:p14="http://schemas.microsoft.com/office/powerpoint/2010/main" val="3979870329"/>
              </p:ext>
            </p:extLst>
          </p:nvPr>
        </p:nvGraphicFramePr>
        <p:xfrm>
          <a:off x="6704355" y="2494887"/>
          <a:ext cx="4136946" cy="1483360"/>
        </p:xfrm>
        <a:graphic>
          <a:graphicData uri="http://schemas.openxmlformats.org/drawingml/2006/table">
            <a:tbl>
              <a:tblPr firstRow="1" bandRow="1">
                <a:tableStyleId>{9D7B26C5-4107-4FEC-AEDC-1716B250A1EF}</a:tableStyleId>
              </a:tblPr>
              <a:tblGrid>
                <a:gridCol w="1378982">
                  <a:extLst>
                    <a:ext uri="{9D8B030D-6E8A-4147-A177-3AD203B41FA5}">
                      <a16:colId xmlns:a16="http://schemas.microsoft.com/office/drawing/2014/main" val="3086435517"/>
                    </a:ext>
                  </a:extLst>
                </a:gridCol>
                <a:gridCol w="1378982">
                  <a:extLst>
                    <a:ext uri="{9D8B030D-6E8A-4147-A177-3AD203B41FA5}">
                      <a16:colId xmlns:a16="http://schemas.microsoft.com/office/drawing/2014/main" val="3910736875"/>
                    </a:ext>
                  </a:extLst>
                </a:gridCol>
                <a:gridCol w="1378982">
                  <a:extLst>
                    <a:ext uri="{9D8B030D-6E8A-4147-A177-3AD203B41FA5}">
                      <a16:colId xmlns:a16="http://schemas.microsoft.com/office/drawing/2014/main" val="914235034"/>
                    </a:ext>
                  </a:extLst>
                </a:gridCol>
              </a:tblGrid>
              <a:tr h="370840">
                <a:tc>
                  <a:txBody>
                    <a:bodyPr/>
                    <a:lstStyle/>
                    <a:p>
                      <a:pPr algn="ctr"/>
                      <a:r>
                        <a:rPr lang="es-419" dirty="0">
                          <a:latin typeface="Times New Roman" panose="02020603050405020304" pitchFamily="18" charset="0"/>
                          <a:cs typeface="Times New Roman" panose="02020603050405020304" pitchFamily="18" charset="0"/>
                        </a:rPr>
                        <a:t>Aspecto</a:t>
                      </a:r>
                    </a:p>
                  </a:txBody>
                  <a:tcPr/>
                </a:tc>
                <a:tc>
                  <a:txBody>
                    <a:bodyPr/>
                    <a:lstStyle/>
                    <a:p>
                      <a:pPr algn="ctr"/>
                      <a:r>
                        <a:rPr lang="es-419" dirty="0">
                          <a:latin typeface="Times New Roman" panose="02020603050405020304" pitchFamily="18" charset="0"/>
                          <a:cs typeface="Times New Roman" panose="02020603050405020304" pitchFamily="18" charset="0"/>
                        </a:rPr>
                        <a:t>Estático</a:t>
                      </a:r>
                    </a:p>
                  </a:txBody>
                  <a:tcPr/>
                </a:tc>
                <a:tc>
                  <a:txBody>
                    <a:bodyPr/>
                    <a:lstStyle/>
                    <a:p>
                      <a:pPr algn="ctr"/>
                      <a:r>
                        <a:rPr lang="es-419" dirty="0">
                          <a:latin typeface="Times New Roman" panose="02020603050405020304" pitchFamily="18" charset="0"/>
                          <a:cs typeface="Times New Roman" panose="02020603050405020304" pitchFamily="18" charset="0"/>
                        </a:rPr>
                        <a:t>Dinámico</a:t>
                      </a:r>
                    </a:p>
                  </a:txBody>
                  <a:tcPr/>
                </a:tc>
                <a:extLst>
                  <a:ext uri="{0D108BD9-81ED-4DB2-BD59-A6C34878D82A}">
                    <a16:rowId xmlns:a16="http://schemas.microsoft.com/office/drawing/2014/main" val="3638040687"/>
                  </a:ext>
                </a:extLst>
              </a:tr>
              <a:tr h="370840">
                <a:tc>
                  <a:txBody>
                    <a:bodyPr/>
                    <a:lstStyle/>
                    <a:p>
                      <a:pPr algn="ctr"/>
                      <a:r>
                        <a:rPr lang="es-419" dirty="0">
                          <a:latin typeface="Times New Roman" panose="02020603050405020304" pitchFamily="18" charset="0"/>
                          <a:cs typeface="Times New Roman" panose="02020603050405020304" pitchFamily="18" charset="0"/>
                        </a:rPr>
                        <a:t>Presión</a:t>
                      </a:r>
                    </a:p>
                  </a:txBody>
                  <a:tcPr/>
                </a:tc>
                <a:tc>
                  <a:txBody>
                    <a:bodyPr/>
                    <a:lstStyle/>
                    <a:p>
                      <a:pPr algn="ctr"/>
                      <a:r>
                        <a:rPr lang="es-419" dirty="0">
                          <a:latin typeface="Times New Roman" panose="02020603050405020304" pitchFamily="18" charset="0"/>
                          <a:cs typeface="Times New Roman" panose="02020603050405020304" pitchFamily="18" charset="0"/>
                        </a:rPr>
                        <a:t>Medible</a:t>
                      </a:r>
                    </a:p>
                  </a:txBody>
                  <a:tcPr/>
                </a:tc>
                <a:tc>
                  <a:txBody>
                    <a:bodyPr/>
                    <a:lstStyle/>
                    <a:p>
                      <a:pPr algn="ctr"/>
                      <a:r>
                        <a:rPr lang="es-419" dirty="0">
                          <a:latin typeface="Times New Roman" panose="02020603050405020304" pitchFamily="18" charset="0"/>
                          <a:cs typeface="Times New Roman" panose="02020603050405020304" pitchFamily="18" charset="0"/>
                        </a:rPr>
                        <a:t>Variable</a:t>
                      </a:r>
                    </a:p>
                  </a:txBody>
                  <a:tcPr/>
                </a:tc>
                <a:extLst>
                  <a:ext uri="{0D108BD9-81ED-4DB2-BD59-A6C34878D82A}">
                    <a16:rowId xmlns:a16="http://schemas.microsoft.com/office/drawing/2014/main" val="181376308"/>
                  </a:ext>
                </a:extLst>
              </a:tr>
              <a:tr h="370840">
                <a:tc>
                  <a:txBody>
                    <a:bodyPr/>
                    <a:lstStyle/>
                    <a:p>
                      <a:pPr algn="ctr"/>
                      <a:r>
                        <a:rPr lang="es-419" dirty="0">
                          <a:latin typeface="Times New Roman" panose="02020603050405020304" pitchFamily="18" charset="0"/>
                          <a:cs typeface="Times New Roman" panose="02020603050405020304" pitchFamily="18" charset="0"/>
                        </a:rPr>
                        <a:t>Temperatura</a:t>
                      </a:r>
                    </a:p>
                  </a:txBody>
                  <a:tcPr/>
                </a:tc>
                <a:tc>
                  <a:txBody>
                    <a:bodyPr/>
                    <a:lstStyle/>
                    <a:p>
                      <a:pPr algn="ctr"/>
                      <a:r>
                        <a:rPr lang="es-419" dirty="0">
                          <a:latin typeface="Times New Roman" panose="02020603050405020304" pitchFamily="18" charset="0"/>
                          <a:cs typeface="Times New Roman" panose="02020603050405020304" pitchFamily="18" charset="0"/>
                        </a:rPr>
                        <a:t>Estable</a:t>
                      </a:r>
                    </a:p>
                  </a:txBody>
                  <a:tcPr/>
                </a:tc>
                <a:tc>
                  <a:txBody>
                    <a:bodyPr/>
                    <a:lstStyle/>
                    <a:p>
                      <a:pPr algn="ctr"/>
                      <a:r>
                        <a:rPr lang="es-419" dirty="0">
                          <a:latin typeface="Times New Roman" panose="02020603050405020304" pitchFamily="18" charset="0"/>
                          <a:cs typeface="Times New Roman" panose="02020603050405020304" pitchFamily="18" charset="0"/>
                        </a:rPr>
                        <a:t>Fluctúa</a:t>
                      </a:r>
                    </a:p>
                  </a:txBody>
                  <a:tcPr/>
                </a:tc>
                <a:extLst>
                  <a:ext uri="{0D108BD9-81ED-4DB2-BD59-A6C34878D82A}">
                    <a16:rowId xmlns:a16="http://schemas.microsoft.com/office/drawing/2014/main" val="950152723"/>
                  </a:ext>
                </a:extLst>
              </a:tr>
              <a:tr h="370840">
                <a:tc>
                  <a:txBody>
                    <a:bodyPr/>
                    <a:lstStyle/>
                    <a:p>
                      <a:pPr algn="ctr"/>
                      <a:r>
                        <a:rPr lang="es-419" dirty="0">
                          <a:latin typeface="Times New Roman" panose="02020603050405020304" pitchFamily="18" charset="0"/>
                          <a:cs typeface="Times New Roman" panose="02020603050405020304" pitchFamily="18" charset="0"/>
                        </a:rPr>
                        <a:t>Empuje</a:t>
                      </a:r>
                    </a:p>
                  </a:txBody>
                  <a:tcPr/>
                </a:tc>
                <a:tc>
                  <a:txBody>
                    <a:bodyPr/>
                    <a:lstStyle/>
                    <a:p>
                      <a:pPr algn="ctr"/>
                      <a:r>
                        <a:rPr lang="es-419" dirty="0">
                          <a:latin typeface="Times New Roman" panose="02020603050405020304" pitchFamily="18" charset="0"/>
                          <a:cs typeface="Times New Roman" panose="02020603050405020304" pitchFamily="18" charset="0"/>
                        </a:rPr>
                        <a:t>Constante</a:t>
                      </a:r>
                    </a:p>
                  </a:txBody>
                  <a:tcPr/>
                </a:tc>
                <a:tc>
                  <a:txBody>
                    <a:bodyPr/>
                    <a:lstStyle/>
                    <a:p>
                      <a:pPr algn="ctr"/>
                      <a:r>
                        <a:rPr lang="es-419" dirty="0">
                          <a:latin typeface="Times New Roman" panose="02020603050405020304" pitchFamily="18" charset="0"/>
                          <a:cs typeface="Times New Roman" panose="02020603050405020304" pitchFamily="18" charset="0"/>
                        </a:rPr>
                        <a:t>Cambia</a:t>
                      </a:r>
                    </a:p>
                  </a:txBody>
                  <a:tcPr/>
                </a:tc>
                <a:extLst>
                  <a:ext uri="{0D108BD9-81ED-4DB2-BD59-A6C34878D82A}">
                    <a16:rowId xmlns:a16="http://schemas.microsoft.com/office/drawing/2014/main" val="4281954304"/>
                  </a:ext>
                </a:extLst>
              </a:tr>
            </a:tbl>
          </a:graphicData>
        </a:graphic>
      </p:graphicFrame>
      <p:sp>
        <p:nvSpPr>
          <p:cNvPr id="30" name="Content Placeholder 2">
            <a:extLst>
              <a:ext uri="{FF2B5EF4-FFF2-40B4-BE49-F238E27FC236}">
                <a16:creationId xmlns:a16="http://schemas.microsoft.com/office/drawing/2014/main" id="{451FD492-0018-D7B2-CA7F-630627968CCE}"/>
              </a:ext>
            </a:extLst>
          </p:cNvPr>
          <p:cNvSpPr txBox="1">
            <a:spLocks/>
          </p:cNvSpPr>
          <p:nvPr/>
        </p:nvSpPr>
        <p:spPr>
          <a:xfrm>
            <a:off x="6143928" y="4217689"/>
            <a:ext cx="5257800" cy="164085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buFont typeface="Arial" panose="020B0604020202020204" pitchFamily="34" charset="0"/>
              <a:buNone/>
            </a:pPr>
            <a:r>
              <a:rPr lang="es-419" dirty="0">
                <a:latin typeface="Times New Roman" panose="02020603050405020304" pitchFamily="18" charset="0"/>
                <a:cs typeface="Times New Roman" panose="02020603050405020304" pitchFamily="18" charset="0"/>
              </a:rPr>
              <a:t>El estudio solo cubrirá los aspectos estáticos. Hay desafíos experimentales como las vibraciones que comprometen la adquisición de datos y los materiales involucrados.</a:t>
            </a:r>
          </a:p>
        </p:txBody>
      </p:sp>
      <p:grpSp>
        <p:nvGrpSpPr>
          <p:cNvPr id="33" name="Group 32">
            <a:extLst>
              <a:ext uri="{FF2B5EF4-FFF2-40B4-BE49-F238E27FC236}">
                <a16:creationId xmlns:a16="http://schemas.microsoft.com/office/drawing/2014/main" id="{D7890EE4-B884-4D03-43ED-DB4605AB0DD1}"/>
              </a:ext>
            </a:extLst>
          </p:cNvPr>
          <p:cNvGrpSpPr/>
          <p:nvPr/>
        </p:nvGrpSpPr>
        <p:grpSpPr>
          <a:xfrm>
            <a:off x="89986" y="5761361"/>
            <a:ext cx="3979742" cy="1463028"/>
            <a:chOff x="270740" y="5676661"/>
            <a:chExt cx="3979742" cy="1463028"/>
          </a:xfrm>
        </p:grpSpPr>
        <p:pic>
          <p:nvPicPr>
            <p:cNvPr id="34" name="Imagen 7">
              <a:extLst>
                <a:ext uri="{FF2B5EF4-FFF2-40B4-BE49-F238E27FC236}">
                  <a16:creationId xmlns:a16="http://schemas.microsoft.com/office/drawing/2014/main" id="{AEB0B488-037E-7A80-5E40-D5CAEA25D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35" name="Imagen 11">
              <a:extLst>
                <a:ext uri="{FF2B5EF4-FFF2-40B4-BE49-F238E27FC236}">
                  <a16:creationId xmlns:a16="http://schemas.microsoft.com/office/drawing/2014/main" id="{1451A40C-27A8-3FBF-990B-EFC417A7F09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36" name="Imagen 13">
              <a:extLst>
                <a:ext uri="{FF2B5EF4-FFF2-40B4-BE49-F238E27FC236}">
                  <a16:creationId xmlns:a16="http://schemas.microsoft.com/office/drawing/2014/main" id="{C0ED2446-4492-0808-2E2F-05300DC6F41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a:xfrm>
            <a:off x="995916" y="1533637"/>
            <a:ext cx="5541335" cy="4478922"/>
          </a:xfrm>
        </p:spPr>
        <p:txBody>
          <a:bodyPr>
            <a:normAutofit fontScale="92500"/>
          </a:bodyPr>
          <a:lstStyle/>
          <a:p>
            <a:pPr marL="0" indent="0">
              <a:buNone/>
            </a:pPr>
            <a:r>
              <a:rPr lang="es-419" sz="2400" dirty="0">
                <a:latin typeface="Times New Roman" panose="02020603050405020304" pitchFamily="18" charset="0"/>
                <a:cs typeface="Times New Roman" panose="02020603050405020304" pitchFamily="18" charset="0"/>
              </a:rPr>
              <a:t>¿Por qué la criticidad de la correcta medición?</a:t>
            </a:r>
          </a:p>
          <a:p>
            <a:r>
              <a:rPr lang="es-419" sz="2400" dirty="0">
                <a:latin typeface="Times New Roman" panose="02020603050405020304" pitchFamily="18" charset="0"/>
                <a:cs typeface="Times New Roman" panose="02020603050405020304" pitchFamily="18" charset="0"/>
              </a:rPr>
              <a:t>Validar modelos teóricos </a:t>
            </a:r>
          </a:p>
          <a:p>
            <a:r>
              <a:rPr lang="es-419" sz="2400" dirty="0">
                <a:latin typeface="Times New Roman" panose="02020603050405020304" pitchFamily="18" charset="0"/>
                <a:cs typeface="Times New Roman" panose="02020603050405020304" pitchFamily="18" charset="0"/>
              </a:rPr>
              <a:t>Correlacionar presión con empuje generado</a:t>
            </a:r>
          </a:p>
          <a:p>
            <a:r>
              <a:rPr lang="es-419" sz="2400" dirty="0">
                <a:latin typeface="Times New Roman" panose="02020603050405020304" pitchFamily="18" charset="0"/>
                <a:cs typeface="Times New Roman" panose="02020603050405020304" pitchFamily="18" charset="0"/>
              </a:rPr>
              <a:t>Garantizar integridad termo-mecánica del sistema</a:t>
            </a:r>
          </a:p>
          <a:p>
            <a:r>
              <a:rPr lang="es-419" sz="2400" dirty="0">
                <a:latin typeface="Times New Roman" panose="02020603050405020304" pitchFamily="18" charset="0"/>
                <a:cs typeface="Times New Roman" panose="02020603050405020304" pitchFamily="18" charset="0"/>
              </a:rPr>
              <a:t>Metodología escalable para instituciones académicas </a:t>
            </a:r>
          </a:p>
          <a:p>
            <a:pPr marL="0" indent="0">
              <a:buNone/>
            </a:pPr>
            <a:r>
              <a:rPr lang="es-419" sz="2400" dirty="0">
                <a:latin typeface="Times New Roman" panose="02020603050405020304" pitchFamily="18" charset="0"/>
                <a:cs typeface="Times New Roman" panose="02020603050405020304" pitchFamily="18" charset="0"/>
              </a:rPr>
              <a:t>De no hacerlo tendremos:</a:t>
            </a:r>
          </a:p>
          <a:p>
            <a:r>
              <a:rPr lang="es-419" sz="2400" dirty="0">
                <a:latin typeface="Times New Roman" panose="02020603050405020304" pitchFamily="18" charset="0"/>
                <a:cs typeface="Times New Roman" panose="02020603050405020304" pitchFamily="18" charset="0"/>
              </a:rPr>
              <a:t>Predicciones erróneas de </a:t>
            </a:r>
            <a:r>
              <a:rPr lang="es-419" sz="2400" i="1" dirty="0">
                <a:latin typeface="Times New Roman" panose="02020603050405020304" pitchFamily="18" charset="0"/>
                <a:cs typeface="Times New Roman" panose="02020603050405020304" pitchFamily="18" charset="0"/>
              </a:rPr>
              <a:t>performance</a:t>
            </a:r>
          </a:p>
          <a:p>
            <a:r>
              <a:rPr lang="es-419" sz="2400" dirty="0">
                <a:latin typeface="Times New Roman" panose="02020603050405020304" pitchFamily="18" charset="0"/>
                <a:cs typeface="Times New Roman" panose="02020603050405020304" pitchFamily="18" charset="0"/>
              </a:rPr>
              <a:t>Fallas de diseño no detectadas</a:t>
            </a:r>
          </a:p>
          <a:p>
            <a:r>
              <a:rPr lang="es-419" sz="2400" dirty="0">
                <a:latin typeface="Times New Roman" panose="02020603050405020304" pitchFamily="18" charset="0"/>
                <a:cs typeface="Times New Roman" panose="02020603050405020304" pitchFamily="18" charset="0"/>
              </a:rPr>
              <a:t>Perdida de trazabilidad científica </a:t>
            </a:r>
          </a:p>
          <a:p>
            <a:pPr marL="0" indent="0">
              <a:buNone/>
            </a:pPr>
            <a:endParaRPr lang="es-419" sz="2400" dirty="0">
              <a:latin typeface="Times New Roman" panose="02020603050405020304" pitchFamily="18" charset="0"/>
              <a:cs typeface="Times New Roman" panose="02020603050405020304" pitchFamily="18" charset="0"/>
            </a:endParaRPr>
          </a:p>
        </p:txBody>
      </p:sp>
      <p:graphicFrame>
        <p:nvGraphicFramePr>
          <p:cNvPr id="4" name="Chart 3">
            <a:extLst>
              <a:ext uri="{FF2B5EF4-FFF2-40B4-BE49-F238E27FC236}">
                <a16:creationId xmlns:a16="http://schemas.microsoft.com/office/drawing/2014/main" id="{00000000-0008-0000-0800-000077B97000}"/>
              </a:ext>
            </a:extLst>
          </p:cNvPr>
          <p:cNvGraphicFramePr>
            <a:graphicFrameLocks/>
          </p:cNvGraphicFramePr>
          <p:nvPr>
            <p:extLst>
              <p:ext uri="{D42A27DB-BD31-4B8C-83A1-F6EECF244321}">
                <p14:modId xmlns:p14="http://schemas.microsoft.com/office/powerpoint/2010/main" val="1777715581"/>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91CD0AD6-F36B-6965-88ED-1AA7B9450210}"/>
              </a:ext>
            </a:extLst>
          </p:cNvPr>
          <p:cNvSpPr txBox="1"/>
          <p:nvPr/>
        </p:nvSpPr>
        <p:spPr>
          <a:xfrm>
            <a:off x="7335668" y="4540103"/>
            <a:ext cx="3774558" cy="1200329"/>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r>
              <a:rPr lang="es-419" dirty="0">
                <a:latin typeface="Times New Roman" panose="02020603050405020304" pitchFamily="18" charset="0"/>
                <a:cs typeface="Times New Roman" panose="02020603050405020304" pitchFamily="18" charset="0"/>
              </a:rPr>
              <a:t>. (Richard </a:t>
            </a:r>
            <a:r>
              <a:rPr lang="es-419" dirty="0" err="1">
                <a:latin typeface="Times New Roman" panose="02020603050405020304" pitchFamily="18" charset="0"/>
                <a:cs typeface="Times New Roman" panose="02020603050405020304" pitchFamily="18" charset="0"/>
              </a:rPr>
              <a:t>Nakka</a:t>
            </a:r>
            <a:r>
              <a:rPr lang="es-419" dirty="0">
                <a:latin typeface="Times New Roman" panose="02020603050405020304" pitchFamily="18" charset="0"/>
                <a:cs typeface="Times New Roman" panose="02020603050405020304" pitchFamily="18" charset="0"/>
              </a:rPr>
              <a:t>, SRM Tool).</a:t>
            </a:r>
          </a:p>
        </p:txBody>
      </p:sp>
      <p:grpSp>
        <p:nvGrpSpPr>
          <p:cNvPr id="6" name="Group 5">
            <a:extLst>
              <a:ext uri="{FF2B5EF4-FFF2-40B4-BE49-F238E27FC236}">
                <a16:creationId xmlns:a16="http://schemas.microsoft.com/office/drawing/2014/main" id="{CCC0A7EA-2F84-9D48-1730-87EF316B7022}"/>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3B75A6AE-3365-FFF9-5BF5-62B61F1DBA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B6D1A21C-CDC6-B42C-C081-7EF8ECED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000081EF-0524-82B9-8325-619A99A5CB3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a:xfrm>
                <a:off x="838201" y="1825625"/>
                <a:ext cx="5257799" cy="4351338"/>
              </a:xfrm>
            </p:spPr>
            <p:txBody>
              <a:bodyPr>
                <a:normAutofit/>
              </a:bodyPr>
              <a:lstStyle/>
              <a:p>
                <a:pPr marL="0" indent="0">
                  <a:buNone/>
                </a:pPr>
                <a:r>
                  <a:rPr lang="es-419" dirty="0">
                    <a:latin typeface="Times New Roman" panose="02020603050405020304" pitchFamily="18" charset="0"/>
                    <a:cs typeface="Times New Roman" panose="02020603050405020304" pitchFamily="18" charset="0"/>
                  </a:rPr>
                  <a:t>Reduciendo a:</a:t>
                </a:r>
              </a:p>
              <a:p>
                <a:pPr marL="0" indent="0">
                  <a:buNone/>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La generación de presión y fuerza es de nuestro interés, por lo que se siguieron los siguientes criterios:</a:t>
                </a:r>
              </a:p>
              <a:p>
                <a:pPr marL="0" indent="0">
                  <a:buNone/>
                </a:pPr>
                <a:r>
                  <a:rPr lang="es-419" dirty="0">
                    <a:latin typeface="Times New Roman" panose="02020603050405020304" pitchFamily="18" charset="0"/>
                    <a:cs typeface="Times New Roman" panose="02020603050405020304" pitchFamily="18" charset="0"/>
                  </a:rPr>
                  <a:t>A. </a:t>
                </a:r>
                <a:r>
                  <a:rPr lang="es-419" b="1" dirty="0">
                    <a:latin typeface="Times New Roman" panose="02020603050405020304" pitchFamily="18" charset="0"/>
                    <a:cs typeface="Times New Roman" panose="02020603050405020304" pitchFamily="18" charset="0"/>
                  </a:rPr>
                  <a:t>Factor de seguridad </a:t>
                </a:r>
                <a:r>
                  <a:rPr lang="es-419" dirty="0">
                    <a:latin typeface="Times New Roman" panose="02020603050405020304" pitchFamily="18" charset="0"/>
                    <a:cs typeface="Times New Roman" panose="02020603050405020304" pitchFamily="18" charset="0"/>
                  </a:rPr>
                  <a:t>de 1.5, estandarizado por estándar IEEE-STD-1058 y evitar picos de saturación. (</a:t>
                </a:r>
                <a:r>
                  <a:rPr lang="es-419" dirty="0" err="1">
                    <a:latin typeface="Times New Roman" panose="02020603050405020304" pitchFamily="18" charset="0"/>
                    <a:cs typeface="Times New Roman" panose="02020603050405020304" pitchFamily="18" charset="0"/>
                  </a:rPr>
                  <a:t>Figliola</a:t>
                </a:r>
                <a:r>
                  <a:rPr lang="es-419" dirty="0">
                    <a:latin typeface="Times New Roman" panose="02020603050405020304" pitchFamily="18" charset="0"/>
                    <a:cs typeface="Times New Roman" panose="02020603050405020304" pitchFamily="18" charset="0"/>
                  </a:rPr>
                  <a:t> &amp; Beasley, 2020)</a:t>
                </a:r>
              </a:p>
            </p:txBody>
          </p:sp>
        </mc:Choice>
        <mc:Fallback xmlns="">
          <p:sp>
            <p:nvSpPr>
              <p:cNvPr id="3" name="Content Placeholder 2">
                <a:extLst>
                  <a:ext uri="{FF2B5EF4-FFF2-40B4-BE49-F238E27FC236}">
                    <a16:creationId xmlns:a16="http://schemas.microsoft.com/office/drawing/2014/main" id="{AB073959-2245-5A24-9C94-FB0FF250D7CA}"/>
                  </a:ext>
                </a:extLst>
              </p:cNvPr>
              <p:cNvSpPr>
                <a:spLocks noGrp="1" noRot="1" noChangeAspect="1" noMove="1" noResize="1" noEditPoints="1" noAdjustHandles="1" noChangeArrowheads="1" noChangeShapeType="1" noTextEdit="1"/>
              </p:cNvSpPr>
              <p:nvPr>
                <p:ph idx="1"/>
              </p:nvPr>
            </p:nvSpPr>
            <p:spPr>
              <a:xfrm>
                <a:off x="838201" y="1825625"/>
                <a:ext cx="5257799" cy="4351338"/>
              </a:xfrm>
              <a:blipFill>
                <a:blip r:embed="rId3"/>
                <a:stretch>
                  <a:fillRect l="-2436" t="-2381" r="-580" b="-140"/>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DB0CBA15-C345-8680-21BE-797F433AA71B}"/>
                  </a:ext>
                </a:extLst>
              </p:cNvPr>
              <p:cNvSpPr txBox="1">
                <a:spLocks/>
              </p:cNvSpPr>
              <p:nvPr/>
            </p:nvSpPr>
            <p:spPr>
              <a:xfrm>
                <a:off x="6096000" y="1825625"/>
                <a:ext cx="525779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419" dirty="0">
                    <a:latin typeface="Times New Roman" panose="02020603050405020304" pitchFamily="18" charset="0"/>
                    <a:cs typeface="Times New Roman" panose="02020603050405020304" pitchFamily="18" charset="0"/>
                  </a:rPr>
                  <a:t>B. </a:t>
                </a:r>
                <a:r>
                  <a:rPr lang="es-419" b="1" dirty="0">
                    <a:latin typeface="Times New Roman" panose="02020603050405020304" pitchFamily="18" charset="0"/>
                    <a:cs typeface="Times New Roman" panose="02020603050405020304" pitchFamily="18" charset="0"/>
                  </a:rPr>
                  <a:t>Precisión</a:t>
                </a:r>
                <a:r>
                  <a:rPr lang="es-419" dirty="0">
                    <a:latin typeface="Times New Roman" panose="02020603050405020304" pitchFamily="18" charset="0"/>
                    <a:cs typeface="Times New Roman" panose="02020603050405020304" pitchFamily="18" charset="0"/>
                  </a:rPr>
                  <a:t> (&lt;5% incertidumbre) por un análisis de incertidumbre GUM (ISO/IEC guide 98-3).</a:t>
                </a:r>
              </a:p>
              <a:p>
                <a:pPr marL="0" indent="0">
                  <a:buNone/>
                </a:pPr>
                <a:r>
                  <a:rPr lang="es-419" dirty="0">
                    <a:latin typeface="Times New Roman" panose="02020603050405020304" pitchFamily="18" charset="0"/>
                    <a:cs typeface="Times New Roman" panose="02020603050405020304" pitchFamily="18" charset="0"/>
                  </a:rPr>
                  <a:t>C. </a:t>
                </a:r>
                <a:r>
                  <a:rPr lang="es-419" b="1" dirty="0">
                    <a:latin typeface="Times New Roman" panose="02020603050405020304" pitchFamily="18" charset="0"/>
                    <a:cs typeface="Times New Roman" panose="02020603050405020304" pitchFamily="18" charset="0"/>
                  </a:rPr>
                  <a:t>Tiempo de respuesta </a:t>
                </a:r>
                <a:r>
                  <a:rPr lang="es-419" dirty="0">
                    <a:latin typeface="Times New Roman" panose="02020603050405020304" pitchFamily="18" charset="0"/>
                    <a:cs typeface="Times New Roman" panose="02020603050405020304" pitchFamily="18" charset="0"/>
                  </a:rPr>
                  <a:t>de &lt;1/10 que el fenómeno, por criterio de </a:t>
                </a:r>
                <a:r>
                  <a:rPr lang="es-419" dirty="0" err="1">
                    <a:latin typeface="Times New Roman" panose="02020603050405020304" pitchFamily="18" charset="0"/>
                    <a:cs typeface="Times New Roman" panose="02020603050405020304" pitchFamily="18" charset="0"/>
                  </a:rPr>
                  <a:t>Tustin</a:t>
                </a:r>
                <a:r>
                  <a:rPr lang="es-419" dirty="0">
                    <a:latin typeface="Times New Roman" panose="02020603050405020304" pitchFamily="18" charset="0"/>
                    <a:cs typeface="Times New Roman" panose="02020603050405020304" pitchFamily="18" charset="0"/>
                  </a:rPr>
                  <a:t>.</a:t>
                </a:r>
              </a:p>
              <a:p>
                <a:pPr marL="0" indent="0">
                  <a:buNone/>
                </a:pPr>
                <a:r>
                  <a:rPr lang="es-419" dirty="0">
                    <a:latin typeface="Times New Roman" panose="02020603050405020304" pitchFamily="18" charset="0"/>
                    <a:cs typeface="Times New Roman" panose="02020603050405020304" pitchFamily="18" charset="0"/>
                  </a:rPr>
                  <a:t>D. </a:t>
                </a:r>
                <a:r>
                  <a:rPr lang="es-419" b="1" dirty="0">
                    <a:latin typeface="Times New Roman" panose="02020603050405020304" pitchFamily="18" charset="0"/>
                    <a:cs typeface="Times New Roman" panose="02020603050405020304" pitchFamily="18" charset="0"/>
                  </a:rPr>
                  <a:t>S/N ratio </a:t>
                </a:r>
                <a:r>
                  <a:rPr lang="es-419" dirty="0">
                    <a:latin typeface="Times New Roman" panose="02020603050405020304" pitchFamily="18" charset="0"/>
                    <a:cs typeface="Times New Roman" panose="02020603050405020304" pitchFamily="18" charset="0"/>
                  </a:rPr>
                  <a:t>&gt;40 dB (Shannon, 1948)</a:t>
                </a:r>
              </a:p>
              <a:p>
                <a:pPr marL="0" indent="0">
                  <a:buNone/>
                </a:pPr>
                <a:r>
                  <a:rPr lang="es-419" dirty="0">
                    <a:latin typeface="Times New Roman" panose="02020603050405020304" pitchFamily="18" charset="0"/>
                    <a:cs typeface="Times New Roman" panose="02020603050405020304" pitchFamily="18" charset="0"/>
                  </a:rPr>
                  <a:t>E. </a:t>
                </a:r>
                <a:r>
                  <a:rPr lang="es-419" b="1" dirty="0">
                    <a:latin typeface="Times New Roman" panose="02020603050405020304" pitchFamily="18" charset="0"/>
                    <a:cs typeface="Times New Roman" panose="02020603050405020304" pitchFamily="18" charset="0"/>
                  </a:rPr>
                  <a:t>Muestreo de datos</a:t>
                </a:r>
                <a:r>
                  <a:rPr lang="es-419" dirty="0">
                    <a:latin typeface="Times New Roman" panose="02020603050405020304" pitchFamily="18" charset="0"/>
                    <a:cs typeface="Times New Roman" panose="02020603050405020304" pitchFamily="18" charset="0"/>
                  </a:rPr>
                  <a:t> por Nyquist </a:t>
                </a:r>
              </a:p>
              <a:p>
                <a:pPr marL="0" indent="0">
                  <a:buNone/>
                </a:pPr>
                <a14:m>
                  <m:oMathPara xmlns:m="http://schemas.openxmlformats.org/officeDocument/2006/math">
                    <m:oMathParaPr>
                      <m:jc m:val="centerGroup"/>
                    </m:oMathParaPr>
                    <m:oMath xmlns:m="http://schemas.openxmlformats.org/officeDocument/2006/math">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𝑠</m:t>
                          </m:r>
                        </m:sub>
                      </m:sSub>
                      <m:r>
                        <a:rPr lang="es-419" b="0" i="1" smtClean="0">
                          <a:latin typeface="Cambria Math" panose="02040503050406030204" pitchFamily="18" charset="0"/>
                          <a:cs typeface="Times New Roman" panose="02020603050405020304" pitchFamily="18" charset="0"/>
                        </a:rPr>
                        <m:t>=2</m:t>
                      </m:r>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𝑚</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4" name="Content Placeholder 2">
                <a:extLst>
                  <a:ext uri="{FF2B5EF4-FFF2-40B4-BE49-F238E27FC236}">
                    <a16:creationId xmlns:a16="http://schemas.microsoft.com/office/drawing/2014/main" id="{DB0CBA15-C345-8680-21BE-797F433AA71B}"/>
                  </a:ext>
                </a:extLst>
              </p:cNvPr>
              <p:cNvSpPr txBox="1">
                <a:spLocks noRot="1" noChangeAspect="1" noMove="1" noResize="1" noEditPoints="1" noAdjustHandles="1" noChangeArrowheads="1" noChangeShapeType="1" noTextEdit="1"/>
              </p:cNvSpPr>
              <p:nvPr/>
            </p:nvSpPr>
            <p:spPr>
              <a:xfrm>
                <a:off x="6096000" y="1825625"/>
                <a:ext cx="5257799" cy="4351338"/>
              </a:xfrm>
              <a:prstGeom prst="rect">
                <a:avLst/>
              </a:prstGeom>
              <a:blipFill>
                <a:blip r:embed="rId4"/>
                <a:stretch>
                  <a:fillRect l="-2320" t="-2381" r="-1740" b="-1681"/>
                </a:stretch>
              </a:blipFill>
            </p:spPr>
            <p:txBody>
              <a:bodyPr/>
              <a:lstStyle/>
              <a:p>
                <a:r>
                  <a:rPr lang="es-419">
                    <a:noFill/>
                  </a:rPr>
                  <a:t> </a:t>
                </a:r>
              </a:p>
            </p:txBody>
          </p:sp>
        </mc:Fallback>
      </mc:AlternateContent>
      <p:grpSp>
        <p:nvGrpSpPr>
          <p:cNvPr id="5" name="Group 4">
            <a:extLst>
              <a:ext uri="{FF2B5EF4-FFF2-40B4-BE49-F238E27FC236}">
                <a16:creationId xmlns:a16="http://schemas.microsoft.com/office/drawing/2014/main" id="{456702EC-B038-7337-7400-306497CE0888}"/>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A883BE8C-B8C3-0FFB-6771-C280298951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A3F6DBD8-B75A-C3EF-6E20-B99FFAFF87E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5E0D62F0-ECC0-CF60-3130-9D214B5A89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1A958-D6BA-E085-B2BC-9DB0D8E22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3FC39-DA89-78EA-38B0-B40B2CDC217E}"/>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Metodologia</a:t>
            </a:r>
            <a:r>
              <a:rPr lang="es-419" dirty="0">
                <a:latin typeface="Times New Roman" panose="02020603050405020304" pitchFamily="18" charset="0"/>
                <a:cs typeface="Times New Roman" panose="02020603050405020304" pitchFamily="18" charset="0"/>
              </a:rPr>
              <a:t> – Enfoque </a:t>
            </a:r>
          </a:p>
        </p:txBody>
      </p:sp>
      <p:sp>
        <p:nvSpPr>
          <p:cNvPr id="4" name="Content Placeholder 2">
            <a:extLst>
              <a:ext uri="{FF2B5EF4-FFF2-40B4-BE49-F238E27FC236}">
                <a16:creationId xmlns:a16="http://schemas.microsoft.com/office/drawing/2014/main" id="{E292828F-3C56-EF9E-06C3-57D2E5F316A1}"/>
              </a:ext>
            </a:extLst>
          </p:cNvPr>
          <p:cNvSpPr txBox="1">
            <a:spLocks/>
          </p:cNvSpPr>
          <p:nvPr/>
        </p:nvSpPr>
        <p:spPr>
          <a:xfrm>
            <a:off x="1055583" y="1827895"/>
            <a:ext cx="7835754" cy="4351338"/>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419" sz="3200" dirty="0">
                <a:latin typeface="Times New Roman" panose="02020603050405020304" pitchFamily="18" charset="0"/>
                <a:cs typeface="Times New Roman" panose="02020603050405020304" pitchFamily="18" charset="0"/>
              </a:rPr>
              <a:t>Enfoque cuasi-experimental con mediciones directas</a:t>
            </a:r>
          </a:p>
          <a:p>
            <a:r>
              <a:rPr lang="es-419" sz="3200" dirty="0">
                <a:latin typeface="Times New Roman" panose="02020603050405020304" pitchFamily="18" charset="0"/>
                <a:cs typeface="Times New Roman" panose="02020603050405020304" pitchFamily="18" charset="0"/>
              </a:rPr>
              <a:t>Validación empírica de teoría vs medido</a:t>
            </a:r>
          </a:p>
          <a:p>
            <a:r>
              <a:rPr lang="es-419" sz="3200" dirty="0">
                <a:latin typeface="Times New Roman" panose="02020603050405020304" pitchFamily="18" charset="0"/>
                <a:cs typeface="Times New Roman" panose="02020603050405020304" pitchFamily="18" charset="0"/>
              </a:rPr>
              <a:t>Correlación Presión – Fuerza como variable de respuesta</a:t>
            </a:r>
          </a:p>
          <a:p>
            <a:endParaRPr lang="es-419" sz="3200" dirty="0">
              <a:latin typeface="Times New Roman" panose="02020603050405020304" pitchFamily="18" charset="0"/>
              <a:cs typeface="Times New Roman" panose="02020603050405020304" pitchFamily="18" charset="0"/>
            </a:endParaRPr>
          </a:p>
        </p:txBody>
      </p:sp>
      <p:grpSp>
        <p:nvGrpSpPr>
          <p:cNvPr id="5" name="Group 4">
            <a:extLst>
              <a:ext uri="{FF2B5EF4-FFF2-40B4-BE49-F238E27FC236}">
                <a16:creationId xmlns:a16="http://schemas.microsoft.com/office/drawing/2014/main" id="{424E729D-3A2D-840F-A022-CD16D84C6691}"/>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8FF50577-7AF3-238D-81B7-9A007F4280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C4DF7D64-0225-F62A-B37F-93672CB17F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03B9FD00-466B-26C1-7381-4E0DFA96A7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917027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BC309-78D1-8419-CFC6-50795D718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55AFD-42DC-B5B3-5D5A-83ED0CBFB5D0}"/>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Metodología – F,D,A</a:t>
            </a:r>
          </a:p>
        </p:txBody>
      </p:sp>
      <p:sp>
        <p:nvSpPr>
          <p:cNvPr id="5" name="Rectangle: Rounded Corners 4">
            <a:extLst>
              <a:ext uri="{FF2B5EF4-FFF2-40B4-BE49-F238E27FC236}">
                <a16:creationId xmlns:a16="http://schemas.microsoft.com/office/drawing/2014/main" id="{B738D648-EBB1-5079-7E81-CFD7B5389771}"/>
              </a:ext>
            </a:extLst>
          </p:cNvPr>
          <p:cNvSpPr/>
          <p:nvPr/>
        </p:nvSpPr>
        <p:spPr>
          <a:xfrm>
            <a:off x="1794138" y="1690688"/>
            <a:ext cx="3088150" cy="157397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Validez experimental directa</a:t>
            </a:r>
          </a:p>
          <a:p>
            <a:pPr algn="ctr"/>
            <a:r>
              <a:rPr lang="es-419" dirty="0">
                <a:latin typeface="Times New Roman" panose="02020603050405020304" pitchFamily="18" charset="0"/>
                <a:cs typeface="Times New Roman" panose="02020603050405020304" pitchFamily="18" charset="0"/>
              </a:rPr>
              <a:t>Trazabilidad de sensores</a:t>
            </a:r>
          </a:p>
          <a:p>
            <a:pPr algn="ctr"/>
            <a:r>
              <a:rPr lang="es-419" dirty="0">
                <a:latin typeface="Times New Roman" panose="02020603050405020304" pitchFamily="18" charset="0"/>
                <a:cs typeface="Times New Roman" panose="02020603050405020304" pitchFamily="18" charset="0"/>
              </a:rPr>
              <a:t>Redundancia</a:t>
            </a:r>
          </a:p>
          <a:p>
            <a:pPr algn="ctr"/>
            <a:r>
              <a:rPr lang="es-419" dirty="0">
                <a:latin typeface="Times New Roman" panose="02020603050405020304" pitchFamily="18" charset="0"/>
                <a:cs typeface="Times New Roman" panose="02020603050405020304" pitchFamily="18" charset="0"/>
              </a:rPr>
              <a:t>Tiempo real</a:t>
            </a:r>
          </a:p>
          <a:p>
            <a:pPr algn="ctr"/>
            <a:r>
              <a:rPr lang="es-419" dirty="0">
                <a:latin typeface="Times New Roman" panose="02020603050405020304" pitchFamily="18" charset="0"/>
                <a:cs typeface="Times New Roman" panose="02020603050405020304" pitchFamily="18" charset="0"/>
              </a:rPr>
              <a:t>Repetibilidad</a:t>
            </a:r>
          </a:p>
        </p:txBody>
      </p:sp>
      <p:sp>
        <p:nvSpPr>
          <p:cNvPr id="6" name="Rectangle: Rounded Corners 5">
            <a:extLst>
              <a:ext uri="{FF2B5EF4-FFF2-40B4-BE49-F238E27FC236}">
                <a16:creationId xmlns:a16="http://schemas.microsoft.com/office/drawing/2014/main" id="{80333EBA-2A91-405D-B322-AA136B4F7F88}"/>
              </a:ext>
            </a:extLst>
          </p:cNvPr>
          <p:cNvSpPr/>
          <p:nvPr/>
        </p:nvSpPr>
        <p:spPr>
          <a:xfrm>
            <a:off x="1378278" y="3412372"/>
            <a:ext cx="3919871" cy="2427038"/>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ES" dirty="0">
                <a:latin typeface="Times New Roman" panose="02020603050405020304" pitchFamily="18" charset="0"/>
                <a:cs typeface="Times New Roman" panose="02020603050405020304" pitchFamily="18" charset="0"/>
              </a:rPr>
              <a:t>Escalabilidad limitada</a:t>
            </a:r>
          </a:p>
          <a:p>
            <a:pPr algn="ctr"/>
            <a:r>
              <a:rPr lang="es-ES" dirty="0">
                <a:latin typeface="Times New Roman" panose="02020603050405020304" pitchFamily="18" charset="0"/>
                <a:cs typeface="Times New Roman" panose="02020603050405020304" pitchFamily="18" charset="0"/>
              </a:rPr>
              <a:t>Solo condiciones estáticas</a:t>
            </a:r>
          </a:p>
          <a:p>
            <a:pPr algn="ctr"/>
            <a:r>
              <a:rPr lang="es-ES" dirty="0">
                <a:latin typeface="Times New Roman" panose="02020603050405020304" pitchFamily="18" charset="0"/>
                <a:cs typeface="Times New Roman" panose="02020603050405020304" pitchFamily="18" charset="0"/>
              </a:rPr>
              <a:t>Precisión de sensores</a:t>
            </a:r>
          </a:p>
          <a:p>
            <a:pPr algn="ctr"/>
            <a:r>
              <a:rPr lang="es-ES" dirty="0">
                <a:latin typeface="Times New Roman" panose="02020603050405020304" pitchFamily="18" charset="0"/>
                <a:cs typeface="Times New Roman" panose="02020603050405020304" pitchFamily="18" charset="0"/>
              </a:rPr>
              <a:t>Frecuencia de muestreo</a:t>
            </a:r>
          </a:p>
          <a:p>
            <a:pPr algn="ctr"/>
            <a:r>
              <a:rPr lang="es-ES" dirty="0">
                <a:latin typeface="Times New Roman" panose="02020603050405020304" pitchFamily="18" charset="0"/>
                <a:cs typeface="Times New Roman" panose="02020603050405020304" pitchFamily="18" charset="0"/>
              </a:rPr>
              <a:t>Seguridad</a:t>
            </a:r>
          </a:p>
          <a:p>
            <a:pPr algn="ctr"/>
            <a:r>
              <a:rPr lang="es-ES" dirty="0">
                <a:latin typeface="Times New Roman" panose="02020603050405020304" pitchFamily="18" charset="0"/>
                <a:cs typeface="Times New Roman" panose="02020603050405020304" pitchFamily="18" charset="0"/>
              </a:rPr>
              <a:t>Costo</a:t>
            </a:r>
          </a:p>
          <a:p>
            <a:pPr algn="ctr"/>
            <a:r>
              <a:rPr lang="es-ES" dirty="0">
                <a:latin typeface="Times New Roman" panose="02020603050405020304" pitchFamily="18" charset="0"/>
                <a:cs typeface="Times New Roman" panose="02020603050405020304" pitchFamily="18" charset="0"/>
              </a:rPr>
              <a:t>Disponibilidad </a:t>
            </a:r>
          </a:p>
          <a:p>
            <a:pPr algn="ctr"/>
            <a:r>
              <a:rPr lang="es-ES" dirty="0">
                <a:latin typeface="Times New Roman" panose="02020603050405020304" pitchFamily="18" charset="0"/>
                <a:cs typeface="Times New Roman" panose="02020603050405020304" pitchFamily="18" charset="0"/>
              </a:rPr>
              <a:t>Variables ambientales</a:t>
            </a:r>
          </a:p>
          <a:p>
            <a:pPr algn="ctr"/>
            <a:endParaRPr lang="es-419"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1A821767-952C-002D-24D2-C73AD700EE10}"/>
              </a:ext>
            </a:extLst>
          </p:cNvPr>
          <p:cNvSpPr/>
          <p:nvPr/>
        </p:nvSpPr>
        <p:spPr>
          <a:xfrm>
            <a:off x="6096000" y="1690688"/>
            <a:ext cx="5185611" cy="4753224"/>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Base empírica para la validación de sistemas propulsivos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Optimización en el diseño de motores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Correlaciones y modelado para sistemas propulsivos</a:t>
            </a:r>
          </a:p>
          <a:p>
            <a:pPr algn="ctr"/>
            <a:endParaRPr lang="es-419" sz="3200" dirty="0">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563204A-DF45-EB29-4681-B3CFEDEBFC35}"/>
              </a:ext>
            </a:extLst>
          </p:cNvPr>
          <p:cNvGrpSpPr/>
          <p:nvPr/>
        </p:nvGrpSpPr>
        <p:grpSpPr>
          <a:xfrm>
            <a:off x="89986" y="5761361"/>
            <a:ext cx="3979742" cy="1463028"/>
            <a:chOff x="270740" y="5676661"/>
            <a:chExt cx="3979742" cy="1463028"/>
          </a:xfrm>
        </p:grpSpPr>
        <p:pic>
          <p:nvPicPr>
            <p:cNvPr id="11" name="Imagen 7">
              <a:extLst>
                <a:ext uri="{FF2B5EF4-FFF2-40B4-BE49-F238E27FC236}">
                  <a16:creationId xmlns:a16="http://schemas.microsoft.com/office/drawing/2014/main" id="{3AB3D370-4B51-EB66-743B-FF02E67D47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12" name="Imagen 11">
              <a:extLst>
                <a:ext uri="{FF2B5EF4-FFF2-40B4-BE49-F238E27FC236}">
                  <a16:creationId xmlns:a16="http://schemas.microsoft.com/office/drawing/2014/main" id="{8D1D7F90-8334-2C16-56B9-C4317B78014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13" name="Imagen 13">
              <a:extLst>
                <a:ext uri="{FF2B5EF4-FFF2-40B4-BE49-F238E27FC236}">
                  <a16:creationId xmlns:a16="http://schemas.microsoft.com/office/drawing/2014/main" id="{CF962F7F-39A6-B947-17F3-F801E3B8C08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3205454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7E5AE-08D6-B96B-8301-045B2C6DFE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36BF4-4445-AE1F-8F74-9CFD0B4B62ED}"/>
              </a:ext>
            </a:extLst>
          </p:cNvPr>
          <p:cNvSpPr>
            <a:spLocks noGrp="1"/>
          </p:cNvSpPr>
          <p:nvPr>
            <p:ph type="title"/>
          </p:nvPr>
        </p:nvSpPr>
        <p:spPr>
          <a:xfrm>
            <a:off x="838200" y="340665"/>
            <a:ext cx="10515600" cy="1325563"/>
          </a:xfrm>
        </p:spPr>
        <p:txBody>
          <a:bodyPr/>
          <a:lstStyle/>
          <a:p>
            <a:r>
              <a:rPr lang="es-419" dirty="0">
                <a:latin typeface="Times New Roman" panose="02020603050405020304" pitchFamily="18" charset="0"/>
                <a:cs typeface="Times New Roman" panose="02020603050405020304" pitchFamily="18" charset="0"/>
              </a:rPr>
              <a:t>Metodología - Instrumentación</a:t>
            </a:r>
          </a:p>
        </p:txBody>
      </p:sp>
      <p:sp>
        <p:nvSpPr>
          <p:cNvPr id="3" name="Content Placeholder 2">
            <a:extLst>
              <a:ext uri="{FF2B5EF4-FFF2-40B4-BE49-F238E27FC236}">
                <a16:creationId xmlns:a16="http://schemas.microsoft.com/office/drawing/2014/main" id="{1DC75133-9FF6-3CD8-279C-11F7EA1D0534}"/>
              </a:ext>
            </a:extLst>
          </p:cNvPr>
          <p:cNvSpPr>
            <a:spLocks noGrp="1"/>
          </p:cNvSpPr>
          <p:nvPr>
            <p:ph idx="1"/>
          </p:nvPr>
        </p:nvSpPr>
        <p:spPr>
          <a:xfrm>
            <a:off x="838200" y="1582402"/>
            <a:ext cx="4467720" cy="4594561"/>
          </a:xfrm>
        </p:spPr>
        <p:txBody>
          <a:bodyPr>
            <a:normAutofit/>
          </a:bodyPr>
          <a:lstStyle/>
          <a:p>
            <a:pPr marL="514350" indent="-514350">
              <a:buFont typeface="+mj-lt"/>
              <a:buAutoNum type="arabicPeriod"/>
            </a:pPr>
            <a:r>
              <a:rPr lang="es-419" dirty="0">
                <a:latin typeface="Times New Roman" panose="02020603050405020304" pitchFamily="18" charset="0"/>
                <a:cs typeface="Times New Roman" panose="02020603050405020304" pitchFamily="18" charset="0"/>
              </a:rPr>
              <a:t>Protocolo de validación</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Calibración previa</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Validación experimental</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Análisis coherente</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Criterios de éxito</a:t>
            </a:r>
          </a:p>
          <a:p>
            <a:pPr marL="514350" indent="-514350">
              <a:buFont typeface="+mj-lt"/>
              <a:buAutoNum type="arabicPeriod"/>
            </a:pPr>
            <a:endParaRPr lang="es-419"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6E633BC8-6FE1-5A7A-34BD-06AB24D4E6C6}"/>
              </a:ext>
            </a:extLst>
          </p:cNvPr>
          <p:cNvSpPr/>
          <p:nvPr/>
        </p:nvSpPr>
        <p:spPr>
          <a:xfrm>
            <a:off x="7371344" y="2346156"/>
            <a:ext cx="1600200" cy="11931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Sistema DAQ y Logging – Raspberry Pi 4B</a:t>
            </a:r>
          </a:p>
        </p:txBody>
      </p:sp>
      <p:grpSp>
        <p:nvGrpSpPr>
          <p:cNvPr id="5" name="Group 4">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99B318A0-B87A-7179-42A5-AF2814918F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21767101-A64F-7AEC-C268-8BA9DE0529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6B1B3E6B-2614-529D-6A7A-E5F0C28A3C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
        <p:nvSpPr>
          <p:cNvPr id="9" name="Rectangle 8">
            <a:extLst>
              <a:ext uri="{FF2B5EF4-FFF2-40B4-BE49-F238E27FC236}">
                <a16:creationId xmlns:a16="http://schemas.microsoft.com/office/drawing/2014/main" id="{C4C8CB2C-292F-EFD6-763A-54DC22464E52}"/>
              </a:ext>
            </a:extLst>
          </p:cNvPr>
          <p:cNvSpPr/>
          <p:nvPr/>
        </p:nvSpPr>
        <p:spPr>
          <a:xfrm>
            <a:off x="7573875"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BMP280</a:t>
            </a:r>
          </a:p>
        </p:txBody>
      </p:sp>
      <p:sp>
        <p:nvSpPr>
          <p:cNvPr id="11" name="Rectangle 10">
            <a:extLst>
              <a:ext uri="{FF2B5EF4-FFF2-40B4-BE49-F238E27FC236}">
                <a16:creationId xmlns:a16="http://schemas.microsoft.com/office/drawing/2014/main" id="{4756DF98-0092-CAA0-1E19-FAF07472F4FF}"/>
              </a:ext>
            </a:extLst>
          </p:cNvPr>
          <p:cNvSpPr/>
          <p:nvPr/>
        </p:nvSpPr>
        <p:spPr>
          <a:xfrm>
            <a:off x="5305923" y="2395306"/>
            <a:ext cx="1600200" cy="10948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Interfaz – LabVIEW </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Logging – CSV </a:t>
            </a:r>
          </a:p>
        </p:txBody>
      </p:sp>
      <p:grpSp>
        <p:nvGrpSpPr>
          <p:cNvPr id="15" name="Group 14">
            <a:extLst>
              <a:ext uri="{FF2B5EF4-FFF2-40B4-BE49-F238E27FC236}">
                <a16:creationId xmlns:a16="http://schemas.microsoft.com/office/drawing/2014/main" id="{A4687F14-B0EB-D00D-83B6-02EB421959CB}"/>
              </a:ext>
            </a:extLst>
          </p:cNvPr>
          <p:cNvGrpSpPr/>
          <p:nvPr/>
        </p:nvGrpSpPr>
        <p:grpSpPr>
          <a:xfrm>
            <a:off x="9613225" y="1277165"/>
            <a:ext cx="1195139" cy="3622945"/>
            <a:chOff x="9938078" y="1385449"/>
            <a:chExt cx="1195139" cy="3622945"/>
          </a:xfrm>
        </p:grpSpPr>
        <p:sp>
          <p:nvSpPr>
            <p:cNvPr id="10" name="Rectangle 9">
              <a:extLst>
                <a:ext uri="{FF2B5EF4-FFF2-40B4-BE49-F238E27FC236}">
                  <a16:creationId xmlns:a16="http://schemas.microsoft.com/office/drawing/2014/main" id="{32C3EFB7-B5CB-2BB2-CDE6-34743896A00F}"/>
                </a:ext>
              </a:extLst>
            </p:cNvPr>
            <p:cNvSpPr/>
            <p:nvPr/>
          </p:nvSpPr>
          <p:spPr>
            <a:xfrm>
              <a:off x="9938080"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YCZ-516</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300kgf</a:t>
              </a:r>
            </a:p>
          </p:txBody>
        </p:sp>
        <p:sp>
          <p:nvSpPr>
            <p:cNvPr id="12" name="Rectangle 11">
              <a:extLst>
                <a:ext uri="{FF2B5EF4-FFF2-40B4-BE49-F238E27FC236}">
                  <a16:creationId xmlns:a16="http://schemas.microsoft.com/office/drawing/2014/main" id="{C539DCBD-B73A-24D8-0050-30A40B722292}"/>
                </a:ext>
              </a:extLst>
            </p:cNvPr>
            <p:cNvSpPr/>
            <p:nvPr/>
          </p:nvSpPr>
          <p:spPr>
            <a:xfrm>
              <a:off x="9938080" y="2137901"/>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Sensor de presión - </a:t>
              </a:r>
              <a:r>
                <a:rPr lang="es-419" sz="1600" dirty="0">
                  <a:solidFill>
                    <a:srgbClr val="FF0000"/>
                  </a:solidFill>
                  <a:latin typeface="Times New Roman" panose="02020603050405020304" pitchFamily="18" charset="0"/>
                  <a:cs typeface="Times New Roman" panose="02020603050405020304" pitchFamily="18" charset="0"/>
                </a:rPr>
                <a:t>Falla</a:t>
              </a:r>
            </a:p>
          </p:txBody>
        </p:sp>
        <p:sp>
          <p:nvSpPr>
            <p:cNvPr id="13" name="Rectangle 12">
              <a:extLst>
                <a:ext uri="{FF2B5EF4-FFF2-40B4-BE49-F238E27FC236}">
                  <a16:creationId xmlns:a16="http://schemas.microsoft.com/office/drawing/2014/main" id="{C5E13218-3B62-CD68-287A-FF06D00BE3CF}"/>
                </a:ext>
              </a:extLst>
            </p:cNvPr>
            <p:cNvSpPr/>
            <p:nvPr/>
          </p:nvSpPr>
          <p:spPr>
            <a:xfrm>
              <a:off x="9938079" y="3142057"/>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OKY3076 (x4)</a:t>
              </a:r>
              <a:endParaRPr lang="es-419" sz="1600" dirty="0">
                <a:solidFill>
                  <a:srgbClr val="FF0000"/>
                </a:solidFill>
                <a:latin typeface="Times New Roman" panose="02020603050405020304" pitchFamily="18" charset="0"/>
                <a:cs typeface="Times New Roman" panose="02020603050405020304" pitchFamily="18" charset="0"/>
              </a:endParaRPr>
            </a:p>
          </p:txBody>
        </p:sp>
        <p:sp>
          <p:nvSpPr>
            <p:cNvPr id="14" name="Rectangle 13">
              <a:extLst>
                <a:ext uri="{FF2B5EF4-FFF2-40B4-BE49-F238E27FC236}">
                  <a16:creationId xmlns:a16="http://schemas.microsoft.com/office/drawing/2014/main" id="{BBF1A13B-8BF8-7948-E3FD-FC5177E084EE}"/>
                </a:ext>
              </a:extLst>
            </p:cNvPr>
            <p:cNvSpPr/>
            <p:nvPr/>
          </p:nvSpPr>
          <p:spPr>
            <a:xfrm>
              <a:off x="9938078" y="4146213"/>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interno – </a:t>
              </a:r>
              <a:r>
                <a:rPr lang="es-419" sz="1600" dirty="0">
                  <a:solidFill>
                    <a:srgbClr val="FF0000"/>
                  </a:solidFill>
                  <a:latin typeface="Times New Roman" panose="02020603050405020304" pitchFamily="18" charset="0"/>
                  <a:cs typeface="Times New Roman" panose="02020603050405020304" pitchFamily="18" charset="0"/>
                </a:rPr>
                <a:t>Falla </a:t>
              </a:r>
            </a:p>
          </p:txBody>
        </p:sp>
      </p:grpSp>
      <p:cxnSp>
        <p:nvCxnSpPr>
          <p:cNvPr id="17" name="Straight Connector 16">
            <a:extLst>
              <a:ext uri="{FF2B5EF4-FFF2-40B4-BE49-F238E27FC236}">
                <a16:creationId xmlns:a16="http://schemas.microsoft.com/office/drawing/2014/main" id="{9CFCE19D-6E7D-2F09-F07F-67584C55EB9E}"/>
              </a:ext>
            </a:extLst>
          </p:cNvPr>
          <p:cNvCxnSpPr>
            <a:stCxn id="9" idx="2"/>
            <a:endCxn id="4" idx="0"/>
          </p:cNvCxnSpPr>
          <p:nvPr/>
        </p:nvCxnSpPr>
        <p:spPr>
          <a:xfrm>
            <a:off x="8171444" y="1995926"/>
            <a:ext cx="0" cy="35023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D6950CD-3457-B6C2-8994-2A7BAF25E74E}"/>
              </a:ext>
            </a:extLst>
          </p:cNvPr>
          <p:cNvCxnSpPr>
            <a:stCxn id="11" idx="3"/>
            <a:endCxn id="4" idx="1"/>
          </p:cNvCxnSpPr>
          <p:nvPr/>
        </p:nvCxnSpPr>
        <p:spPr>
          <a:xfrm>
            <a:off x="6906123" y="2942743"/>
            <a:ext cx="46522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Connector: Elbow 20">
            <a:extLst>
              <a:ext uri="{FF2B5EF4-FFF2-40B4-BE49-F238E27FC236}">
                <a16:creationId xmlns:a16="http://schemas.microsoft.com/office/drawing/2014/main" id="{2B6755D1-E14A-C45A-6CE8-0339EDBE196D}"/>
              </a:ext>
            </a:extLst>
          </p:cNvPr>
          <p:cNvCxnSpPr>
            <a:stCxn id="10" idx="1"/>
            <a:endCxn id="4" idx="3"/>
          </p:cNvCxnSpPr>
          <p:nvPr/>
        </p:nvCxnSpPr>
        <p:spPr>
          <a:xfrm rot="10800000" flipV="1">
            <a:off x="8971545" y="1582403"/>
            <a:ext cx="641683" cy="1360339"/>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664BE055-53B4-98F8-7ACD-4E5D4AAC9A7C}"/>
              </a:ext>
            </a:extLst>
          </p:cNvPr>
          <p:cNvCxnSpPr>
            <a:stCxn id="12" idx="1"/>
            <a:endCxn id="4" idx="3"/>
          </p:cNvCxnSpPr>
          <p:nvPr/>
        </p:nvCxnSpPr>
        <p:spPr>
          <a:xfrm rot="10800000" flipV="1">
            <a:off x="8971545" y="2460707"/>
            <a:ext cx="641683" cy="4820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A80AF53D-28D6-4494-F59A-6A53AEF467D3}"/>
              </a:ext>
            </a:extLst>
          </p:cNvPr>
          <p:cNvCxnSpPr>
            <a:stCxn id="13" idx="1"/>
            <a:endCxn id="4" idx="3"/>
          </p:cNvCxnSpPr>
          <p:nvPr/>
        </p:nvCxnSpPr>
        <p:spPr>
          <a:xfrm rot="10800000">
            <a:off x="8971544" y="2942744"/>
            <a:ext cx="641682" cy="522121"/>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7" name="Connector: Elbow 26">
            <a:extLst>
              <a:ext uri="{FF2B5EF4-FFF2-40B4-BE49-F238E27FC236}">
                <a16:creationId xmlns:a16="http://schemas.microsoft.com/office/drawing/2014/main" id="{12F83CC4-8ADE-D37B-8AF1-57C00908BBBA}"/>
              </a:ext>
            </a:extLst>
          </p:cNvPr>
          <p:cNvCxnSpPr>
            <a:stCxn id="14" idx="1"/>
            <a:endCxn id="4" idx="3"/>
          </p:cNvCxnSpPr>
          <p:nvPr/>
        </p:nvCxnSpPr>
        <p:spPr>
          <a:xfrm rot="10800000">
            <a:off x="8971545" y="2942744"/>
            <a:ext cx="641681" cy="1526277"/>
          </a:xfrm>
          <a:prstGeom prst="bentConnector3">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03961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207A-2695-A13B-9076-23B0150F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CD7458-75C7-4F16-DC52-31D9B301C40D}"/>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propulsivo</a:t>
            </a:r>
          </a:p>
        </p:txBody>
      </p:sp>
      <p:graphicFrame>
        <p:nvGraphicFramePr>
          <p:cNvPr id="4" name="Content Placeholder 3">
            <a:extLst>
              <a:ext uri="{FF2B5EF4-FFF2-40B4-BE49-F238E27FC236}">
                <a16:creationId xmlns:a16="http://schemas.microsoft.com/office/drawing/2014/main" id="{84A73CFC-F3D9-E942-2DC3-ED4B69DAB33B}"/>
              </a:ext>
            </a:extLst>
          </p:cNvPr>
          <p:cNvGraphicFramePr>
            <a:graphicFrameLocks noGrp="1"/>
          </p:cNvGraphicFramePr>
          <p:nvPr>
            <p:ph idx="1"/>
            <p:extLst>
              <p:ext uri="{D42A27DB-BD31-4B8C-83A1-F6EECF244321}">
                <p14:modId xmlns:p14="http://schemas.microsoft.com/office/powerpoint/2010/main" val="1414694418"/>
              </p:ext>
            </p:extLst>
          </p:nvPr>
        </p:nvGraphicFramePr>
        <p:xfrm>
          <a:off x="838200" y="1690688"/>
          <a:ext cx="6858000" cy="384048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latin typeface="Times New Roman" panose="02020603050405020304" pitchFamily="18" charset="0"/>
                          <a:cs typeface="Times New Roman" panose="02020603050405020304" pitchFamily="18" charset="0"/>
                        </a:rPr>
                        <a:t>Parámetro</a:t>
                      </a:r>
                    </a:p>
                  </a:txBody>
                  <a:tcPr anchor="ctr"/>
                </a:tc>
                <a:tc>
                  <a:txBody>
                    <a:bodyPr/>
                    <a:lstStyle/>
                    <a:p>
                      <a:pPr algn="ctr"/>
                      <a:r>
                        <a:rPr lang="es-419" dirty="0">
                          <a:latin typeface="Times New Roman" panose="02020603050405020304" pitchFamily="18" charset="0"/>
                          <a:cs typeface="Times New Roman" panose="02020603050405020304" pitchFamily="18" charset="0"/>
                        </a:rPr>
                        <a:t>Importancia</a:t>
                      </a:r>
                    </a:p>
                  </a:txBody>
                  <a:tcPr anchor="ctr"/>
                </a:tc>
                <a:tc>
                  <a:txBody>
                    <a:bodyPr/>
                    <a:lstStyle/>
                    <a:p>
                      <a:pPr algn="ctr"/>
                      <a:r>
                        <a:rPr lang="es-419" dirty="0">
                          <a:latin typeface="Times New Roman" panose="02020603050405020304" pitchFamily="18" charset="0"/>
                          <a:cs typeface="Times New Roman" panose="02020603050405020304" pitchFamily="18" charset="0"/>
                        </a:rPr>
                        <a:t>Valor</a:t>
                      </a:r>
                    </a:p>
                  </a:txBody>
                  <a:tcPr anchor="ctr"/>
                </a:tc>
                <a:extLst>
                  <a:ext uri="{0D108BD9-81ED-4DB2-BD59-A6C34878D82A}">
                    <a16:rowId xmlns:a16="http://schemas.microsoft.com/office/drawing/2014/main" val="327459817"/>
                  </a:ext>
                </a:extLst>
              </a:tr>
              <a:tr h="640080">
                <a:tc>
                  <a:txBody>
                    <a:bodyPr/>
                    <a:lstStyle/>
                    <a:p>
                      <a:pPr algn="ctr"/>
                      <a:r>
                        <a:rPr lang="es-419" dirty="0">
                          <a:latin typeface="Times New Roman" panose="02020603050405020304" pitchFamily="18" charset="0"/>
                          <a:cs typeface="Times New Roman" panose="02020603050405020304" pitchFamily="18" charset="0"/>
                        </a:rPr>
                        <a:t>Presión máxima de cámara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Correlación con empuje</a:t>
                      </a:r>
                    </a:p>
                  </a:txBody>
                  <a:tcPr anchor="ctr"/>
                </a:tc>
                <a:tc>
                  <a:txBody>
                    <a:bodyPr/>
                    <a:lstStyle/>
                    <a:p>
                      <a:pPr algn="ctr"/>
                      <a:r>
                        <a:rPr lang="es-419" dirty="0">
                          <a:latin typeface="Times New Roman" panose="02020603050405020304" pitchFamily="18" charset="0"/>
                          <a:cs typeface="Times New Roman" panose="02020603050405020304" pitchFamily="18" charset="0"/>
                        </a:rPr>
                        <a:t>7.7 </a:t>
                      </a:r>
                      <a:r>
                        <a:rPr lang="es-419" dirty="0" err="1">
                          <a:latin typeface="Times New Roman" panose="02020603050405020304" pitchFamily="18" charset="0"/>
                          <a:cs typeface="Times New Roman" panose="02020603050405020304" pitchFamily="18" charset="0"/>
                        </a:rPr>
                        <a:t>Mpa</a:t>
                      </a:r>
                      <a:endParaRPr lang="es-419"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185297035"/>
                  </a:ext>
                </a:extLst>
              </a:tr>
              <a:tr h="640080">
                <a:tc>
                  <a:txBody>
                    <a:bodyPr/>
                    <a:lstStyle/>
                    <a:p>
                      <a:pPr algn="ctr"/>
                      <a:r>
                        <a:rPr lang="es-419" dirty="0">
                          <a:latin typeface="Times New Roman" panose="02020603050405020304" pitchFamily="18" charset="0"/>
                          <a:cs typeface="Times New Roman" panose="02020603050405020304" pitchFamily="18" charset="0"/>
                        </a:rPr>
                        <a:t>Empuje máximo</a:t>
                      </a:r>
                    </a:p>
                  </a:txBody>
                  <a:tcPr anchor="ctr"/>
                </a:tc>
                <a:tc>
                  <a:txBody>
                    <a:bodyPr/>
                    <a:lstStyle/>
                    <a:p>
                      <a:pPr algn="ctr"/>
                      <a:r>
                        <a:rPr lang="es-419" dirty="0">
                          <a:latin typeface="Times New Roman" panose="02020603050405020304" pitchFamily="18" charset="0"/>
                          <a:cs typeface="Times New Roman" panose="02020603050405020304" pitchFamily="18" charset="0"/>
                        </a:rPr>
                        <a:t>Performance del motor ligado al impulso </a:t>
                      </a:r>
                    </a:p>
                  </a:txBody>
                  <a:tcPr anchor="ctr"/>
                </a:tc>
                <a:tc>
                  <a:txBody>
                    <a:bodyPr/>
                    <a:lstStyle/>
                    <a:p>
                      <a:pPr algn="ctr"/>
                      <a:r>
                        <a:rPr lang="es-419" dirty="0">
                          <a:latin typeface="Times New Roman" panose="02020603050405020304" pitchFamily="18" charset="0"/>
                          <a:cs typeface="Times New Roman" panose="02020603050405020304" pitchFamily="18" charset="0"/>
                        </a:rPr>
                        <a:t>1400 N</a:t>
                      </a:r>
                    </a:p>
                  </a:txBody>
                  <a:tcPr anchor="ctr"/>
                </a:tc>
                <a:extLst>
                  <a:ext uri="{0D108BD9-81ED-4DB2-BD59-A6C34878D82A}">
                    <a16:rowId xmlns:a16="http://schemas.microsoft.com/office/drawing/2014/main" val="2988493203"/>
                  </a:ext>
                </a:extLst>
              </a:tr>
              <a:tr h="640080">
                <a:tc>
                  <a:txBody>
                    <a:bodyPr/>
                    <a:lstStyle/>
                    <a:p>
                      <a:pPr algn="ctr"/>
                      <a:r>
                        <a:rPr lang="es-419" dirty="0">
                          <a:latin typeface="Times New Roman" panose="02020603050405020304" pitchFamily="18" charset="0"/>
                          <a:cs typeface="Times New Roman" panose="02020603050405020304" pitchFamily="18" charset="0"/>
                        </a:rPr>
                        <a:t>Temperatura de combustión ajustada</a:t>
                      </a:r>
                    </a:p>
                  </a:txBody>
                  <a:tcPr anchor="ctr"/>
                </a:tc>
                <a:tc>
                  <a:txBody>
                    <a:bodyPr/>
                    <a:lstStyle/>
                    <a:p>
                      <a:pPr algn="ctr"/>
                      <a:r>
                        <a:rPr lang="es-419" dirty="0">
                          <a:latin typeface="Times New Roman" panose="02020603050405020304" pitchFamily="18" charset="0"/>
                          <a:cs typeface="Times New Roman" panose="02020603050405020304" pitchFamily="18" charset="0"/>
                        </a:rPr>
                        <a:t>Eficiencia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1582 K</a:t>
                      </a:r>
                    </a:p>
                  </a:txBody>
                  <a:tcPr anchor="ctr"/>
                </a:tc>
                <a:extLst>
                  <a:ext uri="{0D108BD9-81ED-4DB2-BD59-A6C34878D82A}">
                    <a16:rowId xmlns:a16="http://schemas.microsoft.com/office/drawing/2014/main" val="2561973613"/>
                  </a:ext>
                </a:extLst>
              </a:tr>
              <a:tr h="640080">
                <a:tc>
                  <a:txBody>
                    <a:bodyPr/>
                    <a:lstStyle/>
                    <a:p>
                      <a:pPr algn="ctr"/>
                      <a:r>
                        <a:rPr lang="es-419" dirty="0">
                          <a:latin typeface="Times New Roman" panose="02020603050405020304" pitchFamily="18" charset="0"/>
                          <a:cs typeface="Times New Roman" panose="02020603050405020304" pitchFamily="18" charset="0"/>
                        </a:rPr>
                        <a:t>Tiempo de combustión</a:t>
                      </a:r>
                    </a:p>
                  </a:txBody>
                  <a:tcPr anchor="ctr"/>
                </a:tc>
                <a:tc>
                  <a:txBody>
                    <a:bodyPr/>
                    <a:lstStyle/>
                    <a:p>
                      <a:pPr algn="ctr"/>
                      <a:r>
                        <a:rPr lang="es-419" i="1" dirty="0" err="1">
                          <a:latin typeface="Times New Roman" panose="02020603050405020304" pitchFamily="18" charset="0"/>
                          <a:cs typeface="Times New Roman" panose="02020603050405020304" pitchFamily="18" charset="0"/>
                        </a:rPr>
                        <a:t>Rate</a:t>
                      </a:r>
                      <a:r>
                        <a:rPr lang="es-419" dirty="0">
                          <a:latin typeface="Times New Roman" panose="02020603050405020304" pitchFamily="18" charset="0"/>
                          <a:cs typeface="Times New Roman" panose="02020603050405020304" pitchFamily="18" charset="0"/>
                        </a:rPr>
                        <a:t> para transferencia de calor, tiempo de captura de datos min.</a:t>
                      </a:r>
                      <a:endParaRPr lang="es-419" i="1"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1 segundo</a:t>
                      </a:r>
                    </a:p>
                  </a:txBody>
                  <a:tcPr anchor="ctr"/>
                </a:tc>
                <a:extLst>
                  <a:ext uri="{0D108BD9-81ED-4DB2-BD59-A6C34878D82A}">
                    <a16:rowId xmlns:a16="http://schemas.microsoft.com/office/drawing/2014/main" val="2494032119"/>
                  </a:ext>
                </a:extLst>
              </a:tr>
              <a:tr h="640080">
                <a:tc>
                  <a:txBody>
                    <a:bodyPr/>
                    <a:lstStyle/>
                    <a:p>
                      <a:pPr algn="ctr"/>
                      <a:r>
                        <a:rPr lang="es-419" dirty="0">
                          <a:latin typeface="Times New Roman" panose="02020603050405020304" pitchFamily="18" charset="0"/>
                          <a:cs typeface="Times New Roman" panose="02020603050405020304" pitchFamily="18" charset="0"/>
                        </a:rPr>
                        <a:t>Condiciones ambientales</a:t>
                      </a:r>
                    </a:p>
                  </a:txBody>
                  <a:tcPr anchor="ctr"/>
                </a:tc>
                <a:tc>
                  <a:txBody>
                    <a:bodyPr/>
                    <a:lstStyle/>
                    <a:p>
                      <a:pPr algn="ctr"/>
                      <a:r>
                        <a:rPr lang="es-419" dirty="0">
                          <a:latin typeface="Times New Roman" panose="02020603050405020304" pitchFamily="18" charset="0"/>
                          <a:cs typeface="Times New Roman" panose="02020603050405020304" pitchFamily="18" charset="0"/>
                        </a:rPr>
                        <a:t>Corrección de datos debido a calibración de sensores</a:t>
                      </a:r>
                      <a:endParaRPr lang="es-419" i="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latin typeface="Times New Roman" panose="02020603050405020304" pitchFamily="18" charset="0"/>
                          <a:cs typeface="Times New Roman" panose="02020603050405020304" pitchFamily="18" charset="0"/>
                        </a:rPr>
                        <a:t>25-35 °C</a:t>
                      </a:r>
                      <a:endParaRPr lang="es-419" i="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778126609"/>
                  </a:ext>
                </a:extLst>
              </a:tr>
            </a:tbl>
          </a:graphicData>
        </a:graphic>
      </p:graphicFrame>
      <p:pic>
        <p:nvPicPr>
          <p:cNvPr id="5" name="Picture 4">
            <a:extLst>
              <a:ext uri="{FF2B5EF4-FFF2-40B4-BE49-F238E27FC236}">
                <a16:creationId xmlns:a16="http://schemas.microsoft.com/office/drawing/2014/main" id="{6075610E-3E54-0A20-8735-12D58928B3E7}"/>
              </a:ext>
            </a:extLst>
          </p:cNvPr>
          <p:cNvPicPr>
            <a:picLocks noChangeAspect="1"/>
          </p:cNvPicPr>
          <p:nvPr/>
        </p:nvPicPr>
        <p:blipFill>
          <a:blip r:embed="rId2">
            <a:alphaModFix/>
          </a:blip>
          <a:srcRect l="12558" t="11716" r="15412" b="9642"/>
          <a:stretch>
            <a:fillRect/>
          </a:stretch>
        </p:blipFill>
        <p:spPr>
          <a:xfrm>
            <a:off x="8076426" y="1690688"/>
            <a:ext cx="3513063" cy="2150953"/>
          </a:xfrm>
          <a:prstGeom prst="rect">
            <a:avLst/>
          </a:prstGeom>
        </p:spPr>
      </p:pic>
      <p:sp>
        <p:nvSpPr>
          <p:cNvPr id="6" name="TextBox 5">
            <a:extLst>
              <a:ext uri="{FF2B5EF4-FFF2-40B4-BE49-F238E27FC236}">
                <a16:creationId xmlns:a16="http://schemas.microsoft.com/office/drawing/2014/main" id="{FE5C3EB1-77A9-DFC8-8E66-095ECAD6E1CB}"/>
              </a:ext>
            </a:extLst>
          </p:cNvPr>
          <p:cNvSpPr txBox="1"/>
          <p:nvPr/>
        </p:nvSpPr>
        <p:spPr>
          <a:xfrm>
            <a:off x="8076426" y="4007354"/>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 Sistema propulsivo </a:t>
            </a:r>
          </a:p>
          <a:p>
            <a:pPr algn="ctr"/>
            <a:r>
              <a:rPr lang="es-419" dirty="0">
                <a:latin typeface="Times New Roman" panose="02020603050405020304" pitchFamily="18" charset="0"/>
                <a:cs typeface="Times New Roman" panose="02020603050405020304" pitchFamily="18" charset="0"/>
              </a:rPr>
              <a:t>“</a:t>
            </a:r>
            <a:r>
              <a:rPr lang="es-419" i="1" dirty="0">
                <a:latin typeface="Times New Roman" panose="02020603050405020304" pitchFamily="18" charset="0"/>
                <a:cs typeface="Times New Roman" panose="02020603050405020304" pitchFamily="18" charset="0"/>
              </a:rPr>
              <a:t>Chorrilo-V1”</a:t>
            </a:r>
            <a:r>
              <a:rPr lang="es-419" dirty="0">
                <a:latin typeface="Times New Roman" panose="02020603050405020304" pitchFamily="18" charset="0"/>
                <a:cs typeface="Times New Roman" panose="02020603050405020304" pitchFamily="18" charset="0"/>
              </a:rPr>
              <a:t> sometido a prueba (Anexo 1).</a:t>
            </a:r>
          </a:p>
        </p:txBody>
      </p:sp>
      <p:grpSp>
        <p:nvGrpSpPr>
          <p:cNvPr id="3" name="Group 2">
            <a:extLst>
              <a:ext uri="{FF2B5EF4-FFF2-40B4-BE49-F238E27FC236}">
                <a16:creationId xmlns:a16="http://schemas.microsoft.com/office/drawing/2014/main" id="{E3A4791B-D7AE-27D3-FB3C-6EC32DB69463}"/>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5293C7CF-E6EA-05E3-9F22-522D15C73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935703FC-E844-7A44-40AE-A6EA6A043AC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D344F437-97C4-9656-8F7C-298F22D86A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075967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2F10F-D41C-776E-0AA8-A73826EEE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44B50-026A-B568-D07E-111734CF1A71}"/>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estructural</a:t>
            </a:r>
          </a:p>
        </p:txBody>
      </p:sp>
      <p:sp>
        <p:nvSpPr>
          <p:cNvPr id="6" name="TextBox 5">
            <a:extLst>
              <a:ext uri="{FF2B5EF4-FFF2-40B4-BE49-F238E27FC236}">
                <a16:creationId xmlns:a16="http://schemas.microsoft.com/office/drawing/2014/main" id="{216D7E37-4876-3DB2-1C12-5A1487A75D5D}"/>
              </a:ext>
            </a:extLst>
          </p:cNvPr>
          <p:cNvSpPr txBox="1"/>
          <p:nvPr/>
        </p:nvSpPr>
        <p:spPr>
          <a:xfrm>
            <a:off x="8076424" y="4949369"/>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 Sistema estructural </a:t>
            </a:r>
          </a:p>
          <a:p>
            <a:pPr algn="ctr"/>
            <a:r>
              <a:rPr lang="es-419" dirty="0">
                <a:latin typeface="Times New Roman" panose="02020603050405020304" pitchFamily="18" charset="0"/>
                <a:cs typeface="Times New Roman" panose="02020603050405020304" pitchFamily="18" charset="0"/>
              </a:rPr>
              <a:t>“</a:t>
            </a:r>
            <a:r>
              <a:rPr lang="es-419" i="1" dirty="0" err="1">
                <a:latin typeface="Times New Roman" panose="02020603050405020304" pitchFamily="18" charset="0"/>
                <a:cs typeface="Times New Roman" panose="02020603050405020304" pitchFamily="18" charset="0"/>
              </a:rPr>
              <a:t>Maria</a:t>
            </a:r>
            <a:r>
              <a:rPr lang="es-419" i="1" dirty="0">
                <a:latin typeface="Times New Roman" panose="02020603050405020304" pitchFamily="18" charset="0"/>
                <a:cs typeface="Times New Roman" panose="02020603050405020304" pitchFamily="18" charset="0"/>
              </a:rPr>
              <a:t>” </a:t>
            </a:r>
            <a:r>
              <a:rPr lang="es-419" dirty="0">
                <a:latin typeface="Times New Roman" panose="02020603050405020304" pitchFamily="18" charset="0"/>
                <a:cs typeface="Times New Roman" panose="02020603050405020304" pitchFamily="18" charset="0"/>
              </a:rPr>
              <a:t>sometido a prueba </a:t>
            </a:r>
          </a:p>
          <a:p>
            <a:pPr algn="ctr"/>
            <a:r>
              <a:rPr lang="es-419" dirty="0">
                <a:latin typeface="Times New Roman" panose="02020603050405020304" pitchFamily="18" charset="0"/>
                <a:cs typeface="Times New Roman" panose="02020603050405020304" pitchFamily="18" charset="0"/>
              </a:rPr>
              <a:t>(Anexo 2).</a:t>
            </a:r>
          </a:p>
        </p:txBody>
      </p:sp>
      <p:grpSp>
        <p:nvGrpSpPr>
          <p:cNvPr id="3" name="Group 2">
            <a:extLst>
              <a:ext uri="{FF2B5EF4-FFF2-40B4-BE49-F238E27FC236}">
                <a16:creationId xmlns:a16="http://schemas.microsoft.com/office/drawing/2014/main" id="{D21AA2B8-5C10-472B-3185-24ECD354AA90}"/>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1BAC52E4-BD72-B2F9-3050-4018C3025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D6C15DB5-5DE7-826C-F27D-6E391DE83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E1D0A859-2C1F-0578-7722-3D637B10D9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pic>
        <p:nvPicPr>
          <p:cNvPr id="5" name="Picture 4">
            <a:extLst>
              <a:ext uri="{FF2B5EF4-FFF2-40B4-BE49-F238E27FC236}">
                <a16:creationId xmlns:a16="http://schemas.microsoft.com/office/drawing/2014/main" id="{D5147649-D4B8-0FED-6258-A3C37FB6D967}"/>
              </a:ext>
            </a:extLst>
          </p:cNvPr>
          <p:cNvPicPr>
            <a:picLocks noChangeAspect="1"/>
          </p:cNvPicPr>
          <p:nvPr/>
        </p:nvPicPr>
        <p:blipFill>
          <a:blip r:embed="rId5"/>
          <a:srcRect l="23499" t="23395" r="30800" b="8585"/>
          <a:stretch>
            <a:fillRect/>
          </a:stretch>
        </p:blipFill>
        <p:spPr>
          <a:xfrm>
            <a:off x="7928504" y="1908631"/>
            <a:ext cx="3808901" cy="3038059"/>
          </a:xfrm>
          <a:prstGeom prst="rect">
            <a:avLst/>
          </a:prstGeom>
        </p:spPr>
      </p:pic>
      <p:graphicFrame>
        <p:nvGraphicFramePr>
          <p:cNvPr id="10" name="Content Placeholder 3">
            <a:extLst>
              <a:ext uri="{FF2B5EF4-FFF2-40B4-BE49-F238E27FC236}">
                <a16:creationId xmlns:a16="http://schemas.microsoft.com/office/drawing/2014/main" id="{610DC067-FB22-AD1E-E954-19CF5A4849FA}"/>
              </a:ext>
            </a:extLst>
          </p:cNvPr>
          <p:cNvGraphicFramePr>
            <a:graphicFrameLocks noGrp="1"/>
          </p:cNvGraphicFramePr>
          <p:nvPr>
            <p:ph idx="1"/>
            <p:extLst>
              <p:ext uri="{D42A27DB-BD31-4B8C-83A1-F6EECF244321}">
                <p14:modId xmlns:p14="http://schemas.microsoft.com/office/powerpoint/2010/main" val="3414773533"/>
              </p:ext>
            </p:extLst>
          </p:nvPr>
        </p:nvGraphicFramePr>
        <p:xfrm>
          <a:off x="834497" y="1690688"/>
          <a:ext cx="6858000" cy="384048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latin typeface="Times New Roman" panose="02020603050405020304" pitchFamily="18" charset="0"/>
                          <a:cs typeface="Times New Roman" panose="02020603050405020304" pitchFamily="18" charset="0"/>
                        </a:rPr>
                        <a:t>Parámetro</a:t>
                      </a:r>
                    </a:p>
                  </a:txBody>
                  <a:tcPr anchor="ctr"/>
                </a:tc>
                <a:tc>
                  <a:txBody>
                    <a:bodyPr/>
                    <a:lstStyle/>
                    <a:p>
                      <a:pPr algn="ctr"/>
                      <a:r>
                        <a:rPr lang="es-419" dirty="0">
                          <a:latin typeface="Times New Roman" panose="02020603050405020304" pitchFamily="18" charset="0"/>
                          <a:cs typeface="Times New Roman" panose="02020603050405020304" pitchFamily="18" charset="0"/>
                        </a:rPr>
                        <a:t>Importancia</a:t>
                      </a:r>
                    </a:p>
                  </a:txBody>
                  <a:tcPr anchor="ctr"/>
                </a:tc>
                <a:tc>
                  <a:txBody>
                    <a:bodyPr/>
                    <a:lstStyle/>
                    <a:p>
                      <a:pPr algn="ctr"/>
                      <a:r>
                        <a:rPr lang="es-419" dirty="0">
                          <a:latin typeface="Times New Roman" panose="02020603050405020304" pitchFamily="18" charset="0"/>
                          <a:cs typeface="Times New Roman" panose="02020603050405020304" pitchFamily="18" charset="0"/>
                        </a:rPr>
                        <a:t>Valor</a:t>
                      </a:r>
                    </a:p>
                  </a:txBody>
                  <a:tcPr anchor="ctr"/>
                </a:tc>
                <a:extLst>
                  <a:ext uri="{0D108BD9-81ED-4DB2-BD59-A6C34878D82A}">
                    <a16:rowId xmlns:a16="http://schemas.microsoft.com/office/drawing/2014/main" val="327459817"/>
                  </a:ext>
                </a:extLst>
              </a:tr>
              <a:tr h="640080">
                <a:tc>
                  <a:txBody>
                    <a:bodyPr/>
                    <a:lstStyle/>
                    <a:p>
                      <a:pPr algn="ctr"/>
                      <a:r>
                        <a:rPr lang="es-419" dirty="0">
                          <a:latin typeface="Times New Roman" panose="02020603050405020304" pitchFamily="18" charset="0"/>
                          <a:cs typeface="Times New Roman" panose="02020603050405020304" pitchFamily="18" charset="0"/>
                        </a:rPr>
                        <a:t>Presión máxima de cámara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Correlación con empuje</a:t>
                      </a:r>
                    </a:p>
                  </a:txBody>
                  <a:tcPr anchor="ctr"/>
                </a:tc>
                <a:tc>
                  <a:txBody>
                    <a:bodyPr/>
                    <a:lstStyle/>
                    <a:p>
                      <a:pPr algn="ctr"/>
                      <a:r>
                        <a:rPr lang="es-419" dirty="0">
                          <a:latin typeface="Times New Roman" panose="02020603050405020304" pitchFamily="18" charset="0"/>
                          <a:cs typeface="Times New Roman" panose="02020603050405020304" pitchFamily="18" charset="0"/>
                        </a:rPr>
                        <a:t>7.7 </a:t>
                      </a:r>
                      <a:r>
                        <a:rPr lang="es-419" dirty="0" err="1">
                          <a:latin typeface="Times New Roman" panose="02020603050405020304" pitchFamily="18" charset="0"/>
                          <a:cs typeface="Times New Roman" panose="02020603050405020304" pitchFamily="18" charset="0"/>
                        </a:rPr>
                        <a:t>Mpa</a:t>
                      </a:r>
                      <a:endParaRPr lang="es-419"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185297035"/>
                  </a:ext>
                </a:extLst>
              </a:tr>
              <a:tr h="640080">
                <a:tc>
                  <a:txBody>
                    <a:bodyPr/>
                    <a:lstStyle/>
                    <a:p>
                      <a:pPr algn="ctr"/>
                      <a:r>
                        <a:rPr lang="es-419" dirty="0">
                          <a:latin typeface="Times New Roman" panose="02020603050405020304" pitchFamily="18" charset="0"/>
                          <a:cs typeface="Times New Roman" panose="02020603050405020304" pitchFamily="18" charset="0"/>
                        </a:rPr>
                        <a:t>Empuje máximo</a:t>
                      </a:r>
                    </a:p>
                  </a:txBody>
                  <a:tcPr anchor="ctr"/>
                </a:tc>
                <a:tc>
                  <a:txBody>
                    <a:bodyPr/>
                    <a:lstStyle/>
                    <a:p>
                      <a:pPr algn="ctr"/>
                      <a:r>
                        <a:rPr lang="es-419" dirty="0">
                          <a:latin typeface="Times New Roman" panose="02020603050405020304" pitchFamily="18" charset="0"/>
                          <a:cs typeface="Times New Roman" panose="02020603050405020304" pitchFamily="18" charset="0"/>
                        </a:rPr>
                        <a:t>Performance del motor ligado al impulso </a:t>
                      </a:r>
                    </a:p>
                  </a:txBody>
                  <a:tcPr anchor="ctr"/>
                </a:tc>
                <a:tc>
                  <a:txBody>
                    <a:bodyPr/>
                    <a:lstStyle/>
                    <a:p>
                      <a:pPr algn="ctr"/>
                      <a:r>
                        <a:rPr lang="es-419" dirty="0">
                          <a:latin typeface="Times New Roman" panose="02020603050405020304" pitchFamily="18" charset="0"/>
                          <a:cs typeface="Times New Roman" panose="02020603050405020304" pitchFamily="18" charset="0"/>
                        </a:rPr>
                        <a:t>1400 N</a:t>
                      </a:r>
                    </a:p>
                  </a:txBody>
                  <a:tcPr anchor="ctr"/>
                </a:tc>
                <a:extLst>
                  <a:ext uri="{0D108BD9-81ED-4DB2-BD59-A6C34878D82A}">
                    <a16:rowId xmlns:a16="http://schemas.microsoft.com/office/drawing/2014/main" val="2988493203"/>
                  </a:ext>
                </a:extLst>
              </a:tr>
              <a:tr h="640080">
                <a:tc>
                  <a:txBody>
                    <a:bodyPr/>
                    <a:lstStyle/>
                    <a:p>
                      <a:pPr algn="ctr"/>
                      <a:r>
                        <a:rPr lang="es-419" dirty="0">
                          <a:latin typeface="Times New Roman" panose="02020603050405020304" pitchFamily="18" charset="0"/>
                          <a:cs typeface="Times New Roman" panose="02020603050405020304" pitchFamily="18" charset="0"/>
                        </a:rPr>
                        <a:t>Temperatura de combustión ajustada</a:t>
                      </a:r>
                    </a:p>
                  </a:txBody>
                  <a:tcPr anchor="ctr"/>
                </a:tc>
                <a:tc>
                  <a:txBody>
                    <a:bodyPr/>
                    <a:lstStyle/>
                    <a:p>
                      <a:pPr algn="ctr"/>
                      <a:r>
                        <a:rPr lang="es-419" dirty="0">
                          <a:latin typeface="Times New Roman" panose="02020603050405020304" pitchFamily="18" charset="0"/>
                          <a:cs typeface="Times New Roman" panose="02020603050405020304" pitchFamily="18" charset="0"/>
                        </a:rPr>
                        <a:t>Eficiencia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1582 K</a:t>
                      </a:r>
                    </a:p>
                  </a:txBody>
                  <a:tcPr anchor="ctr"/>
                </a:tc>
                <a:extLst>
                  <a:ext uri="{0D108BD9-81ED-4DB2-BD59-A6C34878D82A}">
                    <a16:rowId xmlns:a16="http://schemas.microsoft.com/office/drawing/2014/main" val="2561973613"/>
                  </a:ext>
                </a:extLst>
              </a:tr>
              <a:tr h="640080">
                <a:tc>
                  <a:txBody>
                    <a:bodyPr/>
                    <a:lstStyle/>
                    <a:p>
                      <a:pPr algn="ctr"/>
                      <a:r>
                        <a:rPr lang="es-419" dirty="0">
                          <a:latin typeface="Times New Roman" panose="02020603050405020304" pitchFamily="18" charset="0"/>
                          <a:cs typeface="Times New Roman" panose="02020603050405020304" pitchFamily="18" charset="0"/>
                        </a:rPr>
                        <a:t>Tiempo de combustión</a:t>
                      </a:r>
                    </a:p>
                  </a:txBody>
                  <a:tcPr anchor="ctr"/>
                </a:tc>
                <a:tc>
                  <a:txBody>
                    <a:bodyPr/>
                    <a:lstStyle/>
                    <a:p>
                      <a:pPr algn="ctr"/>
                      <a:r>
                        <a:rPr lang="es-419" i="1" dirty="0" err="1">
                          <a:latin typeface="Times New Roman" panose="02020603050405020304" pitchFamily="18" charset="0"/>
                          <a:cs typeface="Times New Roman" panose="02020603050405020304" pitchFamily="18" charset="0"/>
                        </a:rPr>
                        <a:t>Rate</a:t>
                      </a:r>
                      <a:r>
                        <a:rPr lang="es-419" dirty="0">
                          <a:latin typeface="Times New Roman" panose="02020603050405020304" pitchFamily="18" charset="0"/>
                          <a:cs typeface="Times New Roman" panose="02020603050405020304" pitchFamily="18" charset="0"/>
                        </a:rPr>
                        <a:t> para transferencia de calor, tiempo de captura de datos min.</a:t>
                      </a:r>
                      <a:endParaRPr lang="es-419" i="1"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1 segundo</a:t>
                      </a:r>
                    </a:p>
                  </a:txBody>
                  <a:tcPr anchor="ctr"/>
                </a:tc>
                <a:extLst>
                  <a:ext uri="{0D108BD9-81ED-4DB2-BD59-A6C34878D82A}">
                    <a16:rowId xmlns:a16="http://schemas.microsoft.com/office/drawing/2014/main" val="2494032119"/>
                  </a:ext>
                </a:extLst>
              </a:tr>
              <a:tr h="640080">
                <a:tc>
                  <a:txBody>
                    <a:bodyPr/>
                    <a:lstStyle/>
                    <a:p>
                      <a:pPr algn="ctr"/>
                      <a:r>
                        <a:rPr lang="es-419" dirty="0">
                          <a:latin typeface="Times New Roman" panose="02020603050405020304" pitchFamily="18" charset="0"/>
                          <a:cs typeface="Times New Roman" panose="02020603050405020304" pitchFamily="18" charset="0"/>
                        </a:rPr>
                        <a:t>Condiciones ambientales</a:t>
                      </a:r>
                    </a:p>
                  </a:txBody>
                  <a:tcPr anchor="ctr"/>
                </a:tc>
                <a:tc>
                  <a:txBody>
                    <a:bodyPr/>
                    <a:lstStyle/>
                    <a:p>
                      <a:pPr algn="ctr"/>
                      <a:r>
                        <a:rPr lang="es-419" dirty="0">
                          <a:latin typeface="Times New Roman" panose="02020603050405020304" pitchFamily="18" charset="0"/>
                          <a:cs typeface="Times New Roman" panose="02020603050405020304" pitchFamily="18" charset="0"/>
                        </a:rPr>
                        <a:t>Corrección de datos debido a calibración de sensores</a:t>
                      </a:r>
                      <a:endParaRPr lang="es-419" i="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latin typeface="Times New Roman" panose="02020603050405020304" pitchFamily="18" charset="0"/>
                          <a:cs typeface="Times New Roman" panose="02020603050405020304" pitchFamily="18" charset="0"/>
                        </a:rPr>
                        <a:t>25-35 °C</a:t>
                      </a:r>
                      <a:endParaRPr lang="es-419" i="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778126609"/>
                  </a:ext>
                </a:extLst>
              </a:tr>
            </a:tbl>
          </a:graphicData>
        </a:graphic>
      </p:graphicFrame>
    </p:spTree>
    <p:extLst>
      <p:ext uri="{BB962C8B-B14F-4D97-AF65-F5344CB8AC3E}">
        <p14:creationId xmlns:p14="http://schemas.microsoft.com/office/powerpoint/2010/main" val="3131609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4CF8-EA28-FD96-C659-0A08A1D76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2C677C-6407-5C96-8ABA-14AAF01A42A7}"/>
              </a:ext>
            </a:extLst>
          </p:cNvPr>
          <p:cNvSpPr>
            <a:spLocks noGrp="1"/>
          </p:cNvSpPr>
          <p:nvPr>
            <p:ph type="title"/>
          </p:nvPr>
        </p:nvSpPr>
        <p:spPr/>
        <p:txBody>
          <a:bodyPr/>
          <a:lstStyle/>
          <a:p>
            <a:r>
              <a:rPr lang="es-419" dirty="0"/>
              <a:t>Resultados – Selección de instrumentación y ubicación</a:t>
            </a:r>
          </a:p>
        </p:txBody>
      </p:sp>
      <p:sp>
        <p:nvSpPr>
          <p:cNvPr id="3" name="Content Placeholder 2">
            <a:extLst>
              <a:ext uri="{FF2B5EF4-FFF2-40B4-BE49-F238E27FC236}">
                <a16:creationId xmlns:a16="http://schemas.microsoft.com/office/drawing/2014/main" id="{3810658B-D884-F338-1155-6276F3E83FEE}"/>
              </a:ext>
            </a:extLst>
          </p:cNvPr>
          <p:cNvSpPr>
            <a:spLocks noGrp="1"/>
          </p:cNvSpPr>
          <p:nvPr>
            <p:ph idx="1"/>
          </p:nvPr>
        </p:nvSpPr>
        <p:spPr/>
        <p:txBody>
          <a:bodyPr>
            <a:normAutofit/>
          </a:bodyPr>
          <a:lstStyle/>
          <a:p>
            <a:pPr marL="514350" indent="-514350">
              <a:buFont typeface="+mj-lt"/>
              <a:buAutoNum type="arabicPeriod"/>
            </a:pPr>
            <a:r>
              <a:rPr lang="es-419" dirty="0"/>
              <a:t>Porqué escogimos los sensores del sistema y cómo llegamos a esa decisión final, mostrar fotografía de cómo fueron colocados, marcar con un circulo para fácil visualización</a:t>
            </a:r>
          </a:p>
          <a:p>
            <a:pPr marL="514350" indent="-514350">
              <a:buFont typeface="+mj-lt"/>
              <a:buAutoNum type="arabicPeriod"/>
            </a:pPr>
            <a:r>
              <a:rPr lang="es-419" dirty="0"/>
              <a:t>Detalles de software e interfaz</a:t>
            </a:r>
          </a:p>
          <a:p>
            <a:pPr marL="514350" indent="-514350">
              <a:buFont typeface="+mj-lt"/>
              <a:buAutoNum type="arabicPeriod"/>
            </a:pPr>
            <a:endParaRPr lang="es-419" dirty="0"/>
          </a:p>
        </p:txBody>
      </p:sp>
    </p:spTree>
    <p:extLst>
      <p:ext uri="{BB962C8B-B14F-4D97-AF65-F5344CB8AC3E}">
        <p14:creationId xmlns:p14="http://schemas.microsoft.com/office/powerpoint/2010/main" val="35177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153D4-7F68-DF84-81B9-E7E29130733E}"/>
              </a:ext>
            </a:extLst>
          </p:cNvPr>
          <p:cNvSpPr>
            <a:spLocks noGrp="1"/>
          </p:cNvSpPr>
          <p:nvPr>
            <p:ph type="title"/>
          </p:nvPr>
        </p:nvSpPr>
        <p:spPr/>
        <p:txBody>
          <a:bodyPr/>
          <a:lstStyle/>
          <a:p>
            <a:r>
              <a:rPr lang="es-419" dirty="0"/>
              <a:t>Resultados – Criterios de muestreo </a:t>
            </a:r>
          </a:p>
        </p:txBody>
      </p:sp>
      <p:sp>
        <p:nvSpPr>
          <p:cNvPr id="3" name="Content Placeholder 2">
            <a:extLst>
              <a:ext uri="{FF2B5EF4-FFF2-40B4-BE49-F238E27FC236}">
                <a16:creationId xmlns:a16="http://schemas.microsoft.com/office/drawing/2014/main" id="{F8092073-163E-19C2-6916-CDA81913C0DB}"/>
              </a:ext>
            </a:extLst>
          </p:cNvPr>
          <p:cNvSpPr>
            <a:spLocks noGrp="1"/>
          </p:cNvSpPr>
          <p:nvPr>
            <p:ph idx="1"/>
          </p:nvPr>
        </p:nvSpPr>
        <p:spPr/>
        <p:txBody>
          <a:bodyPr>
            <a:normAutofit/>
          </a:bodyPr>
          <a:lstStyle/>
          <a:p>
            <a:pPr marL="514350" indent="-514350">
              <a:buFont typeface="+mj-lt"/>
              <a:buAutoNum type="arabicPeriod"/>
            </a:pPr>
            <a:r>
              <a:rPr lang="es-419" dirty="0"/>
              <a:t>Qué hicimos para muestrear correctamente, grafica de modelo teórico vs lo medido experimentalmente de:</a:t>
            </a:r>
          </a:p>
          <a:p>
            <a:pPr marL="971550" lvl="1" indent="-514350">
              <a:buFont typeface="+mj-lt"/>
              <a:buAutoNum type="arabicPeriod"/>
            </a:pPr>
            <a:r>
              <a:rPr lang="es-419" dirty="0"/>
              <a:t>Transferencia de calor en los cuatro </a:t>
            </a:r>
            <a:r>
              <a:rPr lang="es-419" i="1" dirty="0"/>
              <a:t>spots</a:t>
            </a:r>
            <a:endParaRPr lang="es-419" dirty="0"/>
          </a:p>
          <a:p>
            <a:pPr marL="971550" lvl="1" indent="-514350">
              <a:buFont typeface="+mj-lt"/>
              <a:buAutoNum type="arabicPeriod"/>
            </a:pPr>
            <a:r>
              <a:rPr lang="es-419" dirty="0"/>
              <a:t>Empuje</a:t>
            </a:r>
          </a:p>
        </p:txBody>
      </p:sp>
    </p:spTree>
    <p:extLst>
      <p:ext uri="{BB962C8B-B14F-4D97-AF65-F5344CB8AC3E}">
        <p14:creationId xmlns:p14="http://schemas.microsoft.com/office/powerpoint/2010/main" val="1915757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715E-D98F-AD91-1E44-3A85EDC8A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5AD0F5-D257-DF49-4B5E-E3BD65D5CCB1}"/>
              </a:ext>
            </a:extLst>
          </p:cNvPr>
          <p:cNvSpPr>
            <a:spLocks noGrp="1"/>
          </p:cNvSpPr>
          <p:nvPr>
            <p:ph type="title"/>
          </p:nvPr>
        </p:nvSpPr>
        <p:spPr/>
        <p:txBody>
          <a:bodyPr/>
          <a:lstStyle/>
          <a:p>
            <a:r>
              <a:rPr lang="es-419" dirty="0"/>
              <a:t>Resultados – fuentes de error y mitigación</a:t>
            </a:r>
          </a:p>
        </p:txBody>
      </p:sp>
      <p:sp>
        <p:nvSpPr>
          <p:cNvPr id="3" name="Content Placeholder 2">
            <a:extLst>
              <a:ext uri="{FF2B5EF4-FFF2-40B4-BE49-F238E27FC236}">
                <a16:creationId xmlns:a16="http://schemas.microsoft.com/office/drawing/2014/main" id="{0E7DCECB-4586-CCF3-1028-D638B56AC2FB}"/>
              </a:ext>
            </a:extLst>
          </p:cNvPr>
          <p:cNvSpPr>
            <a:spLocks noGrp="1"/>
          </p:cNvSpPr>
          <p:nvPr>
            <p:ph idx="1"/>
          </p:nvPr>
        </p:nvSpPr>
        <p:spPr/>
        <p:txBody>
          <a:bodyPr>
            <a:normAutofit/>
          </a:bodyPr>
          <a:lstStyle/>
          <a:p>
            <a:pPr marL="514350" indent="-514350">
              <a:buFont typeface="+mj-lt"/>
              <a:buAutoNum type="arabicPeriod"/>
            </a:pPr>
            <a:r>
              <a:rPr lang="es-419" dirty="0"/>
              <a:t>Hubo, errores, de dónde pensamos que fue su fuente?</a:t>
            </a:r>
          </a:p>
          <a:p>
            <a:pPr marL="514350" indent="-514350">
              <a:buFont typeface="+mj-lt"/>
              <a:buAutoNum type="arabicPeriod"/>
            </a:pPr>
            <a:r>
              <a:rPr lang="es-419" dirty="0"/>
              <a:t>Si detectamos errores, cómo podemos mitigarlo?</a:t>
            </a:r>
          </a:p>
        </p:txBody>
      </p:sp>
    </p:spTree>
    <p:extLst>
      <p:ext uri="{BB962C8B-B14F-4D97-AF65-F5344CB8AC3E}">
        <p14:creationId xmlns:p14="http://schemas.microsoft.com/office/powerpoint/2010/main" val="865226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FAE6-DE1A-D4EA-4D47-2E4BDC421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3A77F-7F57-CBAF-32AA-7E12D5545B27}"/>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B575A09E-2A65-A49B-8B5D-47AB5B002F72}"/>
              </a:ext>
            </a:extLst>
          </p:cNvPr>
          <p:cNvSpPr>
            <a:spLocks noGrp="1"/>
          </p:cNvSpPr>
          <p:nvPr>
            <p:ph idx="1"/>
          </p:nvPr>
        </p:nvSpPr>
        <p:spPr/>
        <p:txBody>
          <a:bodyPr>
            <a:normAutofit/>
          </a:bodyPr>
          <a:lstStyle/>
          <a:p>
            <a:pPr marL="514350" indent="-514350">
              <a:buFont typeface="+mj-lt"/>
              <a:buAutoNum type="arabicPeriod"/>
            </a:pPr>
            <a:r>
              <a:rPr lang="es-419" dirty="0"/>
              <a:t>Se probo con motores tipo G y H de baja potencia. Al utilizarlos con otro sistema estructural las mediciones para fuerza variaban entre 3 a 10 %. </a:t>
            </a:r>
          </a:p>
          <a:p>
            <a:pPr marL="514350" indent="-514350">
              <a:buFont typeface="+mj-lt"/>
              <a:buAutoNum type="arabicPeriod"/>
            </a:pPr>
            <a:r>
              <a:rPr lang="es-419" dirty="0"/>
              <a:t>Se desea realizar la prueba con un motor más grande, ya que la eficiente al escalar el sistema propulsivo, se incrementa y se pueden tener mejores mediciones por tener una señal de fuerza más grande y no ser confundida con vibraciones. </a:t>
            </a:r>
            <a:r>
              <a:rPr lang="es-419" b="1" dirty="0"/>
              <a:t>Esto es lo que se concluirá.</a:t>
            </a:r>
            <a:endParaRPr lang="es-419" dirty="0"/>
          </a:p>
        </p:txBody>
      </p:sp>
    </p:spTree>
    <p:extLst>
      <p:ext uri="{BB962C8B-B14F-4D97-AF65-F5344CB8AC3E}">
        <p14:creationId xmlns:p14="http://schemas.microsoft.com/office/powerpoint/2010/main" val="11023973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6383-CEFC-081F-84A9-1AFB3A6663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79A52-08C0-D544-64CE-2109F946A733}"/>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6C5A51FC-C472-45E1-5F14-BE97258E59E6}"/>
              </a:ext>
            </a:extLst>
          </p:cNvPr>
          <p:cNvSpPr>
            <a:spLocks noGrp="1"/>
          </p:cNvSpPr>
          <p:nvPr>
            <p:ph idx="1"/>
          </p:nvPr>
        </p:nvSpPr>
        <p:spPr/>
        <p:txBody>
          <a:bodyPr>
            <a:normAutofit fontScale="92500" lnSpcReduction="10000"/>
          </a:bodyPr>
          <a:lstStyle/>
          <a:p>
            <a:pPr marL="514350" indent="-514350">
              <a:buFont typeface="+mj-lt"/>
              <a:buAutoNum type="arabicPeriod"/>
            </a:pPr>
            <a:r>
              <a:rPr lang="es-419" dirty="0"/>
              <a:t>La medición de la presión es mas complicado de lo que se espero</a:t>
            </a:r>
          </a:p>
          <a:p>
            <a:pPr marL="514350" indent="-514350">
              <a:buFont typeface="+mj-lt"/>
              <a:buAutoNum type="arabicPeriod"/>
            </a:pPr>
            <a:r>
              <a:rPr lang="es-419" dirty="0"/>
              <a:t>Los gases de combustión al hacer contacto con la zona de censado, quema el sensor. Para mitigar esto se utiliza una “grasa” o “sellador” de mediano a alta </a:t>
            </a:r>
            <a:r>
              <a:rPr lang="es-419" dirty="0" err="1"/>
              <a:t>temp</a:t>
            </a:r>
            <a:r>
              <a:rPr lang="es-419" dirty="0"/>
              <a:t>. Al hacer esto, la grasa pasa de fase pero aun así transmite la presión. La transferencia de calor no es la suficiente para alterar lo medido en el sensor. El uso de este medio protector, puede “retardar” las mediciones.</a:t>
            </a:r>
          </a:p>
          <a:p>
            <a:pPr marL="514350" indent="-514350">
              <a:buFont typeface="+mj-lt"/>
              <a:buAutoNum type="arabicPeriod"/>
            </a:pPr>
            <a:r>
              <a:rPr lang="es-419" dirty="0"/>
              <a:t>Se necesita un sensor adecuado para la medición pero con un costo accesible por pruebas. </a:t>
            </a:r>
          </a:p>
          <a:p>
            <a:pPr marL="514350" indent="-514350">
              <a:buFont typeface="+mj-lt"/>
              <a:buAutoNum type="arabicPeriod"/>
            </a:pPr>
            <a:r>
              <a:rPr lang="es-419" dirty="0"/>
              <a:t>Se recomienda probar con otros medios (ya sea grasas o selladores) que protejan esa zona o cambiar la forma de </a:t>
            </a:r>
            <a:r>
              <a:rPr lang="es-419" dirty="0" err="1"/>
              <a:t>sensar</a:t>
            </a:r>
            <a:r>
              <a:rPr lang="es-419" dirty="0"/>
              <a:t>, utilizando un pistón, por ejemplo. Investigar otros medios.</a:t>
            </a:r>
          </a:p>
        </p:txBody>
      </p:sp>
    </p:spTree>
    <p:extLst>
      <p:ext uri="{BB962C8B-B14F-4D97-AF65-F5344CB8AC3E}">
        <p14:creationId xmlns:p14="http://schemas.microsoft.com/office/powerpoint/2010/main" val="14706630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2458</TotalTime>
  <Words>1364</Words>
  <Application>Microsoft Office PowerPoint</Application>
  <PresentationFormat>Widescreen</PresentationFormat>
  <Paragraphs>218</Paragraphs>
  <Slides>17</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Aptos</vt:lpstr>
      <vt:lpstr>Aptos Display</vt:lpstr>
      <vt:lpstr>Arial</vt:lpstr>
      <vt:lpstr>Cambria Math</vt:lpstr>
      <vt:lpstr>Lucida Console</vt:lpstr>
      <vt:lpstr>Times New Roman</vt:lpstr>
      <vt:lpstr>Wingdings</vt:lpstr>
      <vt:lpstr>Tema de Office</vt:lpstr>
      <vt:lpstr>PIAE II. Presentación Técnica  Instrumentación y análisis experimental de parámetros termodinámicos de un sistema propulsivo tipo cohete</vt:lpstr>
      <vt:lpstr>Agenda</vt:lpstr>
      <vt:lpstr>Problematica</vt:lpstr>
      <vt:lpstr>Problemática – alcance y limitaciones</vt:lpstr>
      <vt:lpstr>Contexto y objetivo</vt:lpstr>
      <vt:lpstr>Marco teorico</vt:lpstr>
      <vt:lpstr>Metodologia – Enfoque </vt:lpstr>
      <vt:lpstr>Metodología – F,D,A</vt:lpstr>
      <vt:lpstr>Metodología - Instrumentación</vt:lpstr>
      <vt:lpstr>Resultados – Sistema propulsivo</vt:lpstr>
      <vt:lpstr>Resultados – Sistema estructural</vt:lpstr>
      <vt:lpstr>Resultados – Selección de instrumentación y ubicación</vt:lpstr>
      <vt:lpstr>Resultados – Criterios de muestreo </vt:lpstr>
      <vt:lpstr>Resultados – fuentes de error y mitigación</vt:lpstr>
      <vt:lpstr>Conclusiones y recomendaciones</vt:lpstr>
      <vt:lpstr>Conclusiones y recomendaciones</vt:lpstr>
      <vt:lpstr>Factibilidad – Manufactura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51</cp:revision>
  <dcterms:created xsi:type="dcterms:W3CDTF">2025-05-21T21:17:18Z</dcterms:created>
  <dcterms:modified xsi:type="dcterms:W3CDTF">2025-11-24T05:18:30Z</dcterms:modified>
</cp:coreProperties>
</file>