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57" r:id="rId3"/>
    <p:sldId id="290" r:id="rId4"/>
    <p:sldId id="291" r:id="rId5"/>
    <p:sldId id="292" r:id="rId6"/>
    <p:sldId id="293" r:id="rId7"/>
    <p:sldId id="258" r:id="rId8"/>
    <p:sldId id="259" r:id="rId9"/>
    <p:sldId id="265" r:id="rId10"/>
    <p:sldId id="266" r:id="rId11"/>
    <p:sldId id="267" r:id="rId12"/>
    <p:sldId id="268" r:id="rId13"/>
    <p:sldId id="269" r:id="rId14"/>
    <p:sldId id="271" r:id="rId15"/>
    <p:sldId id="270" r:id="rId16"/>
    <p:sldId id="280" r:id="rId17"/>
    <p:sldId id="281" r:id="rId18"/>
    <p:sldId id="283" r:id="rId19"/>
    <p:sldId id="284" r:id="rId20"/>
    <p:sldId id="285" r:id="rId21"/>
    <p:sldId id="282" r:id="rId22"/>
    <p:sldId id="272" r:id="rId23"/>
    <p:sldId id="273" r:id="rId24"/>
    <p:sldId id="274" r:id="rId25"/>
    <p:sldId id="275" r:id="rId26"/>
    <p:sldId id="277" r:id="rId27"/>
    <p:sldId id="278" r:id="rId28"/>
    <p:sldId id="286" r:id="rId29"/>
    <p:sldId id="279" r:id="rId30"/>
    <p:sldId id="287" r:id="rId31"/>
    <p:sldId id="288" r:id="rId32"/>
    <p:sldId id="261" r:id="rId33"/>
    <p:sldId id="264" r:id="rId34"/>
    <p:sldId id="262" r:id="rId35"/>
    <p:sldId id="263" r:id="rId36"/>
    <p:sldId id="289" r:id="rId3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9" autoAdjust="0"/>
    <p:restoredTop sz="81693" autoAdjust="0"/>
  </p:normalViewPr>
  <p:slideViewPr>
    <p:cSldViewPr snapToGrid="0">
      <p:cViewPr varScale="1">
        <p:scale>
          <a:sx n="60" d="100"/>
          <a:sy n="60" d="100"/>
        </p:scale>
        <p:origin x="104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35160536"/>
        <c:axId val="335161320"/>
      </c:scatterChart>
      <c:valAx>
        <c:axId val="33516053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35161320"/>
        <c:crosses val="autoZero"/>
        <c:crossBetween val="midCat"/>
      </c:valAx>
      <c:valAx>
        <c:axId val="33516132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3516053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26/10/2025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2BDB245-CECD-89CE-B664-2CC8D187A9BC}"/>
              </a:ext>
            </a:extLst>
          </p:cNvPr>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id="{A7F57656-A1B3-EA52-D886-4E6C01672D26}"/>
              </a:ext>
            </a:extLst>
          </p:cNvPr>
          <p:cNvSpPr>
            <a:spLocks noGrp="1"/>
          </p:cNvSpPr>
          <p:nvPr>
            <p:ph type="sldNum" sz="quarter" idx="5"/>
          </p:nvPr>
        </p:nvSpPr>
        <p:spPr/>
        <p:txBody>
          <a:bodyPr/>
          <a:lstStyle/>
          <a:p>
            <a:fld id="{DB28F327-BEE5-45AC-9CE6-84AF0ACB1493}" type="slidenum">
              <a:rPr lang="es-MX" smtClean="0"/>
              <a:t>11</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CA16216-C1B7-06B6-1C48-21A033CE44B4}"/>
              </a:ext>
            </a:extLst>
          </p:cNvPr>
          <p:cNvSpPr>
            <a:spLocks noGrp="1"/>
          </p:cNvSpPr>
          <p:nvPr>
            <p:ph type="sldNum" sz="quarter" idx="5"/>
          </p:nvPr>
        </p:nvSpPr>
        <p:spPr/>
        <p:txBody>
          <a:bodyPr/>
          <a:lstStyle/>
          <a:p>
            <a:fld id="{DB28F327-BEE5-45AC-9CE6-84AF0ACB1493}" type="slidenum">
              <a:rPr lang="es-MX" smtClean="0"/>
              <a:t>12</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2A9A8C79-6B0F-1272-769E-1604E7A38E7E}"/>
              </a:ext>
            </a:extLst>
          </p:cNvPr>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E07417BD-5542-D618-A913-46D99F70A70D}"/>
              </a:ext>
            </a:extLst>
          </p:cNvPr>
          <p:cNvSpPr>
            <a:spLocks noGrp="1"/>
          </p:cNvSpPr>
          <p:nvPr>
            <p:ph type="sldNum" sz="quarter" idx="5"/>
          </p:nvPr>
        </p:nvSpPr>
        <p:spPr/>
        <p:txBody>
          <a:bodyPr/>
          <a:lstStyle/>
          <a:p>
            <a:fld id="{DB28F327-BEE5-45AC-9CE6-84AF0ACB1493}" type="slidenum">
              <a:rPr lang="es-MX" smtClean="0"/>
              <a:t>14</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A08AA826-DE5D-8987-747F-54A3BB500240}"/>
              </a:ext>
            </a:extLst>
          </p:cNvPr>
          <p:cNvSpPr>
            <a:spLocks noGrp="1"/>
          </p:cNvSpPr>
          <p:nvPr>
            <p:ph type="sldNum" sz="quarter" idx="5"/>
          </p:nvPr>
        </p:nvSpPr>
        <p:spPr/>
        <p:txBody>
          <a:bodyPr/>
          <a:lstStyle/>
          <a:p>
            <a:fld id="{DB28F327-BEE5-45AC-9CE6-84AF0ACB1493}" type="slidenum">
              <a:rPr lang="es-MX" smtClean="0"/>
              <a:t>15</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9664074F-D602-7BA4-F9BA-23096A9C6A38}"/>
              </a:ext>
            </a:extLst>
          </p:cNvPr>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7F45A3EC-518F-4874-4E15-BD41DD47172C}"/>
              </a:ext>
            </a:extLst>
          </p:cNvPr>
          <p:cNvSpPr>
            <a:spLocks noGrp="1"/>
          </p:cNvSpPr>
          <p:nvPr>
            <p:ph type="sldNum" sz="quarter" idx="5"/>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9613C39C-8B5F-3765-1484-F2205D391090}"/>
              </a:ext>
            </a:extLst>
          </p:cNvPr>
          <p:cNvSpPr>
            <a:spLocks noGrp="1"/>
          </p:cNvSpPr>
          <p:nvPr>
            <p:ph type="sldNum" sz="quarter" idx="5"/>
          </p:nvPr>
        </p:nvSpPr>
        <p:spPr/>
        <p:txBody>
          <a:bodyPr/>
          <a:lstStyle/>
          <a:p>
            <a:fld id="{DB28F327-BEE5-45AC-9CE6-84AF0ACB1493}" type="slidenum">
              <a:rPr lang="es-MX" smtClean="0"/>
              <a:t>18</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406BC02-B764-5E67-CBC6-E22C444008BB}"/>
              </a:ext>
            </a:extLst>
          </p:cNvPr>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652DCEEE-E07C-E210-6E45-2CC589218B89}"/>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17A06162-F436-5B7E-9088-189F02566719}"/>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id="{623A789C-4886-A0E5-19F8-9831EADBA6A6}"/>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BE456964-3528-D9A1-7629-89B88C0007C0}"/>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704A619-3851-BE3A-0E11-A37FFBF75140}"/>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B90464B-C3A1-A13C-0087-D33DBA175332}"/>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23C1211-D21A-F39B-CA9C-2B2EBF97B8F1}"/>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E01E37A-A885-024B-3CE1-005FB890C64A}"/>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03598296-8EC7-E502-6F68-E99DAF522D72}"/>
              </a:ext>
            </a:extLst>
          </p:cNvPr>
          <p:cNvSpPr>
            <a:spLocks noGrp="1"/>
          </p:cNvSpPr>
          <p:nvPr>
            <p:ph type="sldNum" sz="quarter" idx="5"/>
          </p:nvPr>
        </p:nvSpPr>
        <p:spPr/>
        <p:txBody>
          <a:bodyPr/>
          <a:lstStyle/>
          <a:p>
            <a:fld id="{DB28F327-BEE5-45AC-9CE6-84AF0ACB1493}" type="slidenum">
              <a:rPr lang="es-MX" smtClean="0"/>
              <a:t>28</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4609BF8-7980-12F8-2456-9CB5C9E586DC}"/>
              </a:ext>
            </a:extLst>
          </p:cNvPr>
          <p:cNvSpPr>
            <a:spLocks noGrp="1"/>
          </p:cNvSpPr>
          <p:nvPr>
            <p:ph type="sldNum" sz="quarter" idx="5"/>
          </p:nvPr>
        </p:nvSpPr>
        <p:spPr/>
        <p:txBody>
          <a:bodyPr/>
          <a:lstStyle/>
          <a:p>
            <a:fld id="{DB28F327-BEE5-45AC-9CE6-84AF0ACB1493}" type="slidenum">
              <a:rPr lang="es-MX" smtClean="0"/>
              <a:t>29</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E125C349-FDA0-328B-61A4-41A3D521F7BE}"/>
              </a:ext>
            </a:extLst>
          </p:cNvPr>
          <p:cNvSpPr>
            <a:spLocks noGrp="1"/>
          </p:cNvSpPr>
          <p:nvPr>
            <p:ph type="sldNum" sz="quarter" idx="5"/>
          </p:nvPr>
        </p:nvSpPr>
        <p:spPr/>
        <p:txBody>
          <a:bodyPr/>
          <a:lstStyle/>
          <a:p>
            <a:fld id="{DB28F327-BEE5-45AC-9CE6-84AF0ACB1493}" type="slidenum">
              <a:rPr lang="es-MX" smtClean="0"/>
              <a:t>30</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897523A9-CFD7-7340-FF11-FB4447A3F7A3}"/>
              </a:ext>
            </a:extLst>
          </p:cNvPr>
          <p:cNvSpPr>
            <a:spLocks noGrp="1"/>
          </p:cNvSpPr>
          <p:nvPr>
            <p:ph type="sldNum" sz="quarter" idx="5"/>
          </p:nvPr>
        </p:nvSpPr>
        <p:spPr/>
        <p:txBody>
          <a:bodyPr/>
          <a:lstStyle/>
          <a:p>
            <a:fld id="{DB28F327-BEE5-45AC-9CE6-84AF0ACB1493}" type="slidenum">
              <a:rPr lang="es-MX" smtClean="0"/>
              <a:t>31</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64258EB-91E8-2924-CBD4-96B87E7215B3}"/>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5" name="Marcador de pie de página 4">
            <a:extLst>
              <a:ext uri="{FF2B5EF4-FFF2-40B4-BE49-F238E27FC236}">
                <a16:creationId xmlns:a16="http://schemas.microsoft.com/office/drawing/2014/main"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1FBF5EA1-958A-FE14-14ED-F5DDBBF4E116}"/>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5" name="Marcador de pie de página 4">
            <a:extLst>
              <a:ext uri="{FF2B5EF4-FFF2-40B4-BE49-F238E27FC236}">
                <a16:creationId xmlns:a16="http://schemas.microsoft.com/office/drawing/2014/main"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6983407-AB5D-BF9A-FBAB-084762521C54}"/>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5" name="Marcador de pie de página 4">
            <a:extLst>
              <a:ext uri="{FF2B5EF4-FFF2-40B4-BE49-F238E27FC236}">
                <a16:creationId xmlns:a16="http://schemas.microsoft.com/office/drawing/2014/main"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287A35D-19C4-6423-2182-6F7AEF7D868A}"/>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6" name="Marcador de pie de página 5">
            <a:extLst>
              <a:ext uri="{FF2B5EF4-FFF2-40B4-BE49-F238E27FC236}">
                <a16:creationId xmlns:a16="http://schemas.microsoft.com/office/drawing/2014/main"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6408DFA-ED9B-85E0-43F4-D76EC22CA284}"/>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8" name="Marcador de pie de página 7">
            <a:extLst>
              <a:ext uri="{FF2B5EF4-FFF2-40B4-BE49-F238E27FC236}">
                <a16:creationId xmlns:a16="http://schemas.microsoft.com/office/drawing/2014/main"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C518C19-B858-A8DC-36D3-86800D8685BC}"/>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4" name="Marcador de pie de página 3">
            <a:extLst>
              <a:ext uri="{FF2B5EF4-FFF2-40B4-BE49-F238E27FC236}">
                <a16:creationId xmlns:a16="http://schemas.microsoft.com/office/drawing/2014/main"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E40A591-B9B4-C1D0-2520-DB39CAD388E6}"/>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3" name="Marcador de pie de página 2">
            <a:extLst>
              <a:ext uri="{FF2B5EF4-FFF2-40B4-BE49-F238E27FC236}">
                <a16:creationId xmlns:a16="http://schemas.microsoft.com/office/drawing/2014/main"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AB8F47-7E0B-AC5B-B99B-1397BBF4E1B0}"/>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6" name="Marcador de pie de página 5">
            <a:extLst>
              <a:ext uri="{FF2B5EF4-FFF2-40B4-BE49-F238E27FC236}">
                <a16:creationId xmlns:a16="http://schemas.microsoft.com/office/drawing/2014/main"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95AB3-0527-0650-4A5E-8E39C3FEBC5F}"/>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6" name="Marcador de pie de página 5">
            <a:extLst>
              <a:ext uri="{FF2B5EF4-FFF2-40B4-BE49-F238E27FC236}">
                <a16:creationId xmlns:a16="http://schemas.microsoft.com/office/drawing/2014/main"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0D93516-4160-7AF2-1AD2-1717A1759DF3}"/>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5" name="Marcador de pie de página 4">
            <a:extLst>
              <a:ext uri="{FF2B5EF4-FFF2-40B4-BE49-F238E27FC236}">
                <a16:creationId xmlns:a16="http://schemas.microsoft.com/office/drawing/2014/main"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B7BDC0A-C2D7-3843-E6F7-DF6981CF3BDF}"/>
              </a:ext>
            </a:extLst>
          </p:cNvPr>
          <p:cNvSpPr>
            <a:spLocks noGrp="1"/>
          </p:cNvSpPr>
          <p:nvPr>
            <p:ph type="dt" sz="half" idx="10"/>
          </p:nvPr>
        </p:nvSpPr>
        <p:spPr/>
        <p:txBody>
          <a:bodyPr/>
          <a:lstStyle/>
          <a:p>
            <a:fld id="{ABDDA2F0-ADA3-4A09-A4A4-0854B4A15306}" type="datetimeFigureOut">
              <a:rPr lang="es-MX" smtClean="0"/>
              <a:t>26/10/2025</a:t>
            </a:fld>
            <a:endParaRPr lang="es-MX"/>
          </a:p>
        </p:txBody>
      </p:sp>
      <p:sp>
        <p:nvSpPr>
          <p:cNvPr id="5" name="Marcador de pie de página 4">
            <a:extLst>
              <a:ext uri="{FF2B5EF4-FFF2-40B4-BE49-F238E27FC236}">
                <a16:creationId xmlns:a16="http://schemas.microsoft.com/office/drawing/2014/main"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26/10/2025</a:t>
            </a:fld>
            <a:endParaRPr lang="es-MX"/>
          </a:p>
        </p:txBody>
      </p:sp>
      <p:sp>
        <p:nvSpPr>
          <p:cNvPr id="5" name="Marcador de pie de página 4">
            <a:extLst>
              <a:ext uri="{FF2B5EF4-FFF2-40B4-BE49-F238E27FC236}">
                <a16:creationId xmlns:a16="http://schemas.microsoft.com/office/drawing/2014/main"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jpeg"/><Relationship Id="rId4" Type="http://schemas.openxmlformats.org/officeDocument/2006/relationships/image" Target="../media/image9.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22.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4.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2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id="{EC6C3CBE-087A-6EFC-794A-BF6D55DB7543}"/>
              </a:ext>
            </a:extLst>
          </p:cNvPr>
          <p:cNvSpPr>
            <a:spLocks noGrp="1"/>
          </p:cNvSpPr>
          <p:nvPr>
            <p:ph type="subTitle" idx="1"/>
          </p:nvPr>
        </p:nvSpPr>
        <p:spPr>
          <a:xfrm>
            <a:off x="6459181" y="4195217"/>
            <a:ext cx="4694371" cy="1398472"/>
          </a:xfrm>
        </p:spPr>
        <p:txBody>
          <a:bodyPr>
            <a:normAutofit fontScale="92500" lnSpcReduction="1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ID: 2079870</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Recomendaciones y conclusiones</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693F-3E7B-9FD4-A980-32DF66D806B1}"/>
              </a:ext>
            </a:extLst>
          </p:cNvPr>
          <p:cNvSpPr>
            <a:spLocks noGrp="1"/>
          </p:cNvSpPr>
          <p:nvPr>
            <p:ph type="title"/>
          </p:nvPr>
        </p:nvSpPr>
        <p:spPr/>
        <p:txBody>
          <a:bodyPr/>
          <a:lstStyle/>
          <a:p>
            <a:r>
              <a:rPr lang="es-419" dirty="0" err="1"/>
              <a:t>Problematica</a:t>
            </a:r>
            <a:endParaRPr lang="es-419" dirty="0"/>
          </a:p>
        </p:txBody>
      </p:sp>
      <p:sp>
        <p:nvSpPr>
          <p:cNvPr id="3" name="Content Placeholder 2">
            <a:extLst>
              <a:ext uri="{FF2B5EF4-FFF2-40B4-BE49-F238E27FC236}">
                <a16:creationId xmlns:a16="http://schemas.microsoft.com/office/drawing/2014/main" id="{ED910B20-70C3-EE55-0612-C91E5B9F71A0}"/>
              </a:ext>
            </a:extLst>
          </p:cNvPr>
          <p:cNvSpPr>
            <a:spLocks noGrp="1"/>
          </p:cNvSpPr>
          <p:nvPr>
            <p:ph idx="1"/>
          </p:nvPr>
        </p:nvSpPr>
        <p:spPr/>
        <p:txBody>
          <a:bodyPr>
            <a:normAutofit lnSpcReduction="10000"/>
          </a:bodyPr>
          <a:lstStyle/>
          <a:p>
            <a:pPr marL="514350" indent="-514350">
              <a:buAutoNum type="arabicPeriod"/>
            </a:pPr>
            <a:r>
              <a:rPr lang="es-419" dirty="0"/>
              <a:t>Demostrar cómo la generación de presión dentro de la cámara es el parámetro que más influye en la fuerza resultante</a:t>
            </a:r>
          </a:p>
          <a:p>
            <a:pPr marL="514350" indent="-514350">
              <a:buAutoNum type="arabicPeriod"/>
            </a:pPr>
            <a:r>
              <a:rPr lang="es-419" dirty="0"/>
              <a:t>La presión es generada por la quema del combustible solido </a:t>
            </a:r>
          </a:p>
          <a:p>
            <a:pPr marL="514350" indent="-514350">
              <a:buAutoNum type="arabicPeriod"/>
            </a:pPr>
            <a:r>
              <a:rPr lang="es-419" dirty="0"/>
              <a:t>El </a:t>
            </a:r>
            <a:r>
              <a:rPr lang="es-419" dirty="0" err="1"/>
              <a:t>burn</a:t>
            </a:r>
            <a:r>
              <a:rPr lang="es-419" dirty="0"/>
              <a:t> </a:t>
            </a:r>
            <a:r>
              <a:rPr lang="es-419" dirty="0" err="1"/>
              <a:t>rate</a:t>
            </a:r>
            <a:r>
              <a:rPr lang="es-419" dirty="0"/>
              <a:t> es un parámetro completamente experimental, se tiene que caracterizar cada propelente por un dispositivo (</a:t>
            </a:r>
            <a:r>
              <a:rPr lang="es-419" dirty="0" err="1"/>
              <a:t>strand</a:t>
            </a:r>
            <a:r>
              <a:rPr lang="es-419" dirty="0"/>
              <a:t> </a:t>
            </a:r>
            <a:r>
              <a:rPr lang="es-419" dirty="0" err="1"/>
              <a:t>burner</a:t>
            </a:r>
            <a:r>
              <a:rPr lang="es-419" dirty="0"/>
              <a:t> u otro)</a:t>
            </a:r>
          </a:p>
          <a:p>
            <a:pPr marL="514350" indent="-514350">
              <a:buAutoNum type="arabicPeriod"/>
            </a:pPr>
            <a:r>
              <a:rPr lang="es-419" dirty="0"/>
              <a:t>Aunque se caracterice el propelente al montarlo en el motor la presión no siempre va ser la calculada teóricamente ya que su comportamiento puede ser otro</a:t>
            </a:r>
          </a:p>
          <a:p>
            <a:pPr marL="514350" indent="-514350">
              <a:buAutoNum type="arabicPeriod"/>
            </a:pPr>
            <a:r>
              <a:rPr lang="es-419" dirty="0"/>
              <a:t>Los demás parámetros también se ven afectados</a:t>
            </a:r>
          </a:p>
        </p:txBody>
      </p: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E1A5-CCAC-1889-B55F-39C8C03560DA}"/>
              </a:ext>
            </a:extLst>
          </p:cNvPr>
          <p:cNvSpPr>
            <a:spLocks noGrp="1"/>
          </p:cNvSpPr>
          <p:nvPr>
            <p:ph type="title"/>
          </p:nvPr>
        </p:nvSpPr>
        <p:spPr/>
        <p:txBody>
          <a:bodyPr/>
          <a:lstStyle/>
          <a:p>
            <a:r>
              <a:rPr lang="es-419" dirty="0" err="1"/>
              <a:t>problematica</a:t>
            </a:r>
            <a:endParaRPr lang="es-419" dirty="0"/>
          </a:p>
        </p:txBody>
      </p:sp>
      <p:sp>
        <p:nvSpPr>
          <p:cNvPr id="3" name="Content Placeholder 2">
            <a:extLst>
              <a:ext uri="{FF2B5EF4-FFF2-40B4-BE49-F238E27FC236}">
                <a16:creationId xmlns:a16="http://schemas.microsoft.com/office/drawing/2014/main" id="{CE4FE2B1-55D3-378B-E66B-2EBD25D41C94}"/>
              </a:ext>
            </a:extLst>
          </p:cNvPr>
          <p:cNvSpPr>
            <a:spLocks noGrp="1"/>
          </p:cNvSpPr>
          <p:nvPr>
            <p:ph idx="1"/>
          </p:nvPr>
        </p:nvSpPr>
        <p:spPr/>
        <p:txBody>
          <a:bodyPr>
            <a:normAutofit fontScale="62500" lnSpcReduction="20000"/>
          </a:bodyPr>
          <a:lstStyle/>
          <a:p>
            <a:pPr marL="514350" indent="-514350">
              <a:buFont typeface="+mj-lt"/>
              <a:buAutoNum type="arabicPeriod"/>
            </a:pPr>
            <a:r>
              <a:rPr lang="es-419" dirty="0"/>
              <a:t>Inclusive ya en vuelo, el comportamiento de la combustión puede cambiar por lo que habría que diferenciar entre comportamiento dinámico y estático del sistema. Aquí solo se cubre el análisis estático y la adquisición de sus parámetros. </a:t>
            </a:r>
          </a:p>
          <a:p>
            <a:pPr marL="514350" indent="-514350">
              <a:buFont typeface="+mj-lt"/>
              <a:buAutoNum type="arabicPeriod"/>
            </a:pPr>
            <a:r>
              <a:rPr lang="es-419" dirty="0"/>
              <a:t>Por lo tanto, obtener un dato coherente de presión es muy importante además de su correlación directa con el empuje dado del motor.</a:t>
            </a:r>
          </a:p>
          <a:p>
            <a:pPr marL="514350" indent="-514350">
              <a:buFont typeface="+mj-lt"/>
              <a:buAutoNum type="arabicPeriod"/>
            </a:pPr>
            <a:r>
              <a:rPr lang="es-419" dirty="0"/>
              <a:t>Además de la importancia del performance del motor, está su integridad </a:t>
            </a:r>
            <a:r>
              <a:rPr lang="es-419" dirty="0" err="1"/>
              <a:t>termomecánica</a:t>
            </a:r>
            <a:r>
              <a:rPr lang="es-419" dirty="0"/>
              <a:t>, por lo que realizar el análisis de transferencia de calor también es primordial.</a:t>
            </a:r>
          </a:p>
          <a:p>
            <a:pPr marL="514350" indent="-514350">
              <a:buFont typeface="+mj-lt"/>
              <a:buAutoNum type="arabicPeriod"/>
            </a:pPr>
            <a:r>
              <a:rPr lang="es-419" dirty="0"/>
              <a:t>Debido a la naturaleza turbulenta de la combustión, hay que determinar un coeficiente de convección para estos gases, esto siendo otra problemática aunque ya haya estudios sobre como obtenerlos. Además de los materiales dentro del motor que fungen como aislantes térmicos e inhibidores de combustión</a:t>
            </a:r>
          </a:p>
          <a:p>
            <a:pPr marL="514350" indent="-514350">
              <a:buFont typeface="+mj-lt"/>
              <a:buAutoNum type="arabicPeriod"/>
            </a:pPr>
            <a:r>
              <a:rPr lang="es-419" dirty="0"/>
              <a:t>Por ultimo las vibraciones pueden comprometer la adquisición de estas variables, además de ocasionar ruido en las lecturas</a:t>
            </a:r>
          </a:p>
          <a:p>
            <a:pPr marL="514350" indent="-514350">
              <a:buFont typeface="+mj-lt"/>
              <a:buAutoNum type="arabicPeriod"/>
            </a:pPr>
            <a:r>
              <a:rPr lang="es-419" dirty="0"/>
              <a:t>Si no se resuelve el problema, el sistema propulsivo no cumplirá con los parámetros de eficiencia y de impulso que esperamos</a:t>
            </a:r>
          </a:p>
          <a:p>
            <a:pPr marL="514350" indent="-514350">
              <a:buFont typeface="+mj-lt"/>
              <a:buAutoNum type="arabicPeriod"/>
            </a:pPr>
            <a:r>
              <a:rPr lang="es-419" dirty="0"/>
              <a:t>Las soluciones para cada caso es tener en cuenta los posibles errores, así como las metodologías bien establecidas de cómo medir estas variables, básicamente diseñar un dispositivo y un protocolo</a:t>
            </a:r>
          </a:p>
        </p:txBody>
      </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EEC96-4058-9E35-DC4A-F9ACEEE72D62}"/>
              </a:ext>
            </a:extLst>
          </p:cNvPr>
          <p:cNvSpPr>
            <a:spLocks noGrp="1"/>
          </p:cNvSpPr>
          <p:nvPr>
            <p:ph type="title"/>
          </p:nvPr>
        </p:nvSpPr>
        <p:spPr/>
        <p:txBody>
          <a:bodyPr/>
          <a:lstStyle/>
          <a:p>
            <a:r>
              <a:rPr lang="es-419" dirty="0"/>
              <a:t>Contexto y objetivo</a:t>
            </a:r>
          </a:p>
        </p:txBody>
      </p:sp>
      <p:sp>
        <p:nvSpPr>
          <p:cNvPr id="3" name="Content Placeholder 2">
            <a:extLst>
              <a:ext uri="{FF2B5EF4-FFF2-40B4-BE49-F238E27FC236}">
                <a16:creationId xmlns:a16="http://schemas.microsoft.com/office/drawing/2014/main" id="{D31401BC-DA16-D8A5-B385-B6265F65DD43}"/>
              </a:ext>
            </a:extLst>
          </p:cNvPr>
          <p:cNvSpPr>
            <a:spLocks noGrp="1"/>
          </p:cNvSpPr>
          <p:nvPr>
            <p:ph idx="1"/>
          </p:nvPr>
        </p:nvSpPr>
        <p:spPr/>
        <p:txBody>
          <a:bodyPr/>
          <a:lstStyle/>
          <a:p>
            <a:r>
              <a:rPr lang="es-419" dirty="0"/>
              <a:t>Un motor cohete es utilizado como sistema propulsivo en múltiples vehículos lanzadores a orbita o de tipo militar. El enfoque de esta investigación, no es más que la adquisición de variables termodinámicas de un sistema propulsivo, para este caso uno de los más fáciles y </a:t>
            </a:r>
            <a:r>
              <a:rPr lang="es-419" i="1" dirty="0"/>
              <a:t>low-cost</a:t>
            </a:r>
            <a:r>
              <a:rPr lang="es-419" dirty="0"/>
              <a:t> de realizar debido a ciertas precariedades y desactualización de algunos equipos a los que se puede acceder. Este análisis tiene como objetivo además de brindar una fuerte base de conocimiento al publico interesado en este campo, la correcta medición y adquisición de parámetros de un sistema propulsivo evaluando la mejor metodología y dispositivos que den un </a:t>
            </a:r>
            <a:r>
              <a:rPr lang="es-419" i="1" dirty="0"/>
              <a:t>ratio</a:t>
            </a:r>
            <a:r>
              <a:rPr lang="es-419" dirty="0"/>
              <a:t> de calidad de datos contra costo</a:t>
            </a:r>
          </a:p>
        </p:txBody>
      </p:sp>
    </p:spTree>
    <p:extLst>
      <p:ext uri="{BB962C8B-B14F-4D97-AF65-F5344CB8AC3E}">
        <p14:creationId xmlns:p14="http://schemas.microsoft.com/office/powerpoint/2010/main" val="4136908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t>Marco </a:t>
            </a:r>
            <a:r>
              <a:rPr lang="es-419" dirty="0" err="1"/>
              <a:t>teorico</a:t>
            </a:r>
            <a:endParaRPr lang="es-419" dirty="0"/>
          </a:p>
        </p:txBody>
      </p:sp>
      <p:sp>
        <p:nvSpPr>
          <p:cNvPr id="3" name="Content Placeholder 2">
            <a:extLst>
              <a:ext uri="{FF2B5EF4-FFF2-40B4-BE49-F238E27FC236}">
                <a16:creationId xmlns:a16="http://schemas.microsoft.com/office/drawing/2014/main" id="{AB073959-2245-5A24-9C94-FB0FF250D7CA}"/>
              </a:ext>
            </a:extLst>
          </p:cNvPr>
          <p:cNvSpPr>
            <a:spLocks noGrp="1"/>
          </p:cNvSpPr>
          <p:nvPr>
            <p:ph idx="1"/>
          </p:nvPr>
        </p:nvSpPr>
        <p:spPr/>
        <p:txBody>
          <a:bodyPr>
            <a:normAutofit lnSpcReduction="10000"/>
          </a:bodyPr>
          <a:lstStyle/>
          <a:p>
            <a:pPr marL="514350" indent="-514350">
              <a:buFont typeface="+mj-lt"/>
              <a:buAutoNum type="arabicPeriod"/>
            </a:pPr>
            <a:r>
              <a:rPr lang="es-419" dirty="0" err="1"/>
              <a:t>Ecuacion</a:t>
            </a:r>
            <a:r>
              <a:rPr lang="es-419" dirty="0"/>
              <a:t> general de empuje hasta ecuación de empuje en cohete solido </a:t>
            </a:r>
          </a:p>
          <a:p>
            <a:pPr marL="514350" indent="-514350">
              <a:buFont typeface="+mj-lt"/>
              <a:buAutoNum type="arabicPeriod"/>
            </a:pPr>
            <a:r>
              <a:rPr lang="es-419" dirty="0"/>
              <a:t>Como se generan los gases de combustión y estos parámetros donde variables como presión, temperatura, entre otros se ven implicados.</a:t>
            </a:r>
          </a:p>
          <a:p>
            <a:pPr marL="514350" indent="-514350">
              <a:buFont typeface="+mj-lt"/>
              <a:buAutoNum type="arabicPeriod"/>
            </a:pPr>
            <a:r>
              <a:rPr lang="es-419" dirty="0"/>
              <a:t>Como se miden los parámetros de nuestro interés </a:t>
            </a:r>
          </a:p>
          <a:p>
            <a:pPr marL="971550" lvl="1" indent="-514350">
              <a:buFont typeface="+mj-lt"/>
              <a:buAutoNum type="arabicPeriod"/>
            </a:pPr>
            <a:r>
              <a:rPr lang="es-419" dirty="0"/>
              <a:t>Esquema de conexión y lay </a:t>
            </a:r>
            <a:r>
              <a:rPr lang="es-419" dirty="0" err="1"/>
              <a:t>out</a:t>
            </a:r>
            <a:r>
              <a:rPr lang="es-419" dirty="0"/>
              <a:t> de como colocarlos en el dispositivo </a:t>
            </a:r>
          </a:p>
          <a:p>
            <a:pPr marL="971550" lvl="1" indent="-514350">
              <a:buFont typeface="+mj-lt"/>
              <a:buAutoNum type="arabicPeriod"/>
            </a:pPr>
            <a:r>
              <a:rPr lang="es-419" dirty="0"/>
              <a:t>Justificación de selección de sensor, ADC, almacenamiento y controlador</a:t>
            </a:r>
          </a:p>
          <a:p>
            <a:pPr marL="971550" lvl="1" indent="-514350">
              <a:buFont typeface="+mj-lt"/>
              <a:buAutoNum type="arabicPeriod"/>
            </a:pPr>
            <a:r>
              <a:rPr lang="es-419" dirty="0"/>
              <a:t>Protocolo de medición y de seguridad </a:t>
            </a:r>
          </a:p>
          <a:p>
            <a:pPr marL="514350" indent="-514350">
              <a:buFont typeface="+mj-lt"/>
              <a:buAutoNum type="arabicPeriod"/>
            </a:pPr>
            <a:r>
              <a:rPr lang="es-419" dirty="0"/>
              <a:t>Énfasis en la medición de la presión </a:t>
            </a:r>
          </a:p>
          <a:p>
            <a:pPr marL="514350" indent="-514350">
              <a:buFont typeface="+mj-lt"/>
              <a:buAutoNum type="arabicPeriod"/>
            </a:pPr>
            <a:endParaRPr lang="es-419" dirty="0"/>
          </a:p>
        </p:txBody>
      </p:sp>
    </p:spTree>
    <p:extLst>
      <p:ext uri="{BB962C8B-B14F-4D97-AF65-F5344CB8AC3E}">
        <p14:creationId xmlns:p14="http://schemas.microsoft.com/office/powerpoint/2010/main" val="2778621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0F0C23-FE50-8839-B107-C21CD5459C01}"/>
              </a:ext>
            </a:extLst>
          </p:cNvPr>
          <p:cNvSpPr>
            <a:spLocks noGrp="1"/>
          </p:cNvSpPr>
          <p:nvPr>
            <p:ph type="title"/>
          </p:nvPr>
        </p:nvSpPr>
        <p:spPr>
          <a:xfrm>
            <a:off x="838200" y="365125"/>
            <a:ext cx="10515600" cy="708301"/>
          </a:xfrm>
        </p:spPr>
        <p:txBody>
          <a:bodyPr>
            <a:noAutofit/>
          </a:bodyPr>
          <a:lstStyle/>
          <a:p>
            <a:r>
              <a:rPr lang="es-MX" sz="3400" i="1" dirty="0">
                <a:latin typeface="Times New Roman" panose="02020603050405020304" pitchFamily="18" charset="0"/>
                <a:cs typeface="Times New Roman" panose="02020603050405020304" pitchFamily="18" charset="0"/>
              </a:rPr>
              <a:t>Meeting US</a:t>
            </a:r>
          </a:p>
        </p:txBody>
      </p:sp>
      <p:sp>
        <p:nvSpPr>
          <p:cNvPr id="3" name="Marcador de contenido 2">
            <a:extLst>
              <a:ext uri="{FF2B5EF4-FFF2-40B4-BE49-F238E27FC236}">
                <a16:creationId xmlns:a16="http://schemas.microsoft.com/office/drawing/2014/main"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3820231" y="0"/>
            <a:ext cx="4551537" cy="6858000"/>
          </a:xfrm>
          <a:prstGeom prst="rect">
            <a:avLst/>
          </a:prstGeom>
        </p:spPr>
      </p:pic>
    </p:spTree>
    <p:extLst>
      <p:ext uri="{BB962C8B-B14F-4D97-AF65-F5344CB8AC3E}">
        <p14:creationId xmlns:p14="http://schemas.microsoft.com/office/powerpoint/2010/main" val="17312073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a:latin typeface="Times New Roman" panose="02020603050405020304" pitchFamily="18" charset="0"/>
                <a:cs typeface="Times New Roman" panose="02020603050405020304" pitchFamily="18" charset="0"/>
              </a:rPr>
              <a:t>castable</a:t>
            </a:r>
            <a:r>
              <a:rPr lang="es-ES" sz="2000" dirty="0">
                <a:latin typeface="Times New Roman" panose="02020603050405020304" pitchFamily="18" charset="0"/>
                <a:cs typeface="Times New Roman" panose="02020603050405020304" pitchFamily="18" charset="0"/>
              </a:rPr>
              <a:t> 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18476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val="4231280534"/>
                        </a:ext>
                      </a:extLst>
                    </a:gridCol>
                    <a:gridCol w="1170305">
                      <a:extLst>
                        <a:ext uri="{9D8B030D-6E8A-4147-A177-3AD203B41FA5}">
                          <a16:colId xmlns:a16="http://schemas.microsoft.com/office/drawing/2014/main" val="1923169229"/>
                        </a:ext>
                      </a:extLst>
                    </a:gridCol>
                    <a:gridCol w="2041144">
                      <a:extLst>
                        <a:ext uri="{9D8B030D-6E8A-4147-A177-3AD203B41FA5}">
                          <a16:colId xmlns:a16="http://schemas.microsoft.com/office/drawing/2014/main" val="3299784387"/>
                        </a:ext>
                      </a:extLst>
                    </a:gridCol>
                    <a:gridCol w="1843237">
                      <a:extLst>
                        <a:ext uri="{9D8B030D-6E8A-4147-A177-3AD203B41FA5}">
                          <a16:colId xmlns:a16="http://schemas.microsoft.com/office/drawing/2014/main"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id="{DE950F92-179A-6A18-9630-BAB1FD13673F}"/>
              </a:ext>
            </a:extLst>
          </p:cNvPr>
          <p:cNvSpPr>
            <a:spLocks noGrp="1"/>
          </p:cNvSpPr>
          <p:nvPr>
            <p:ph sz="half" idx="1"/>
          </p:nvPr>
        </p:nvSpPr>
        <p:spPr/>
        <p:txBody>
          <a:bodyPr>
            <a:normAutofit fontScale="85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id="{A5CEACF8-E932-108E-7ABE-547DAAA851ED}"/>
              </a:ext>
            </a:extLst>
          </p:cNvPr>
          <p:cNvSpPr>
            <a:spLocks noGrp="1"/>
          </p:cNvSpPr>
          <p:nvPr>
            <p:ph sz="half" idx="2"/>
          </p:nvPr>
        </p:nvSpPr>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id="{A5CEACF8-E932-108E-7ABE-547DAAA851ED}"/>
              </a:ext>
            </a:extLst>
          </p:cNvPr>
          <p:cNvSpPr>
            <a:spLocks noGrp="1"/>
          </p:cNvSpPr>
          <p:nvPr>
            <p:ph sz="half" idx="2"/>
          </p:nvPr>
        </p:nvSpPr>
        <p:spPr>
          <a:xfrm>
            <a:off x="838200" y="1690688"/>
            <a:ext cx="5181600" cy="4351338"/>
          </a:xfrm>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2068</TotalTime>
  <Words>3348</Words>
  <Application>Microsoft Office PowerPoint</Application>
  <PresentationFormat>Widescreen</PresentationFormat>
  <Paragraphs>354</Paragraphs>
  <Slides>36</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Aptos</vt:lpstr>
      <vt:lpstr>Aptos Display</vt:lpstr>
      <vt:lpstr>Arial</vt:lpstr>
      <vt:lpstr>Cambria Math</vt:lpstr>
      <vt:lpstr>Lucida Console</vt:lpstr>
      <vt:lpstr>Times New Roman</vt:lpstr>
      <vt:lpstr>Tema de Office</vt:lpstr>
      <vt:lpstr>PIAE II. Presentación Técnica  Instrumentación y análisis experimental de parámetros termodinámicos de un sistema propulsivo tipo cohete</vt:lpstr>
      <vt:lpstr>Agenda</vt:lpstr>
      <vt:lpstr>Problematica</vt:lpstr>
      <vt:lpstr>problematica</vt:lpstr>
      <vt:lpstr>Contexto y objetivo</vt:lpstr>
      <vt:lpstr>Marco teorico</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Juan Leonardo Valadez Ortiz</cp:lastModifiedBy>
  <cp:revision>46</cp:revision>
  <dcterms:created xsi:type="dcterms:W3CDTF">2025-05-21T21:17:18Z</dcterms:created>
  <dcterms:modified xsi:type="dcterms:W3CDTF">2025-10-27T04:49:24Z</dcterms:modified>
</cp:coreProperties>
</file>