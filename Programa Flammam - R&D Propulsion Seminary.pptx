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57" r:id="rId3"/>
    <p:sldId id="258" r:id="rId4"/>
    <p:sldId id="259" r:id="rId5"/>
    <p:sldId id="265" r:id="rId6"/>
    <p:sldId id="266" r:id="rId7"/>
    <p:sldId id="267" r:id="rId8"/>
    <p:sldId id="268" r:id="rId9"/>
    <p:sldId id="269" r:id="rId10"/>
    <p:sldId id="271" r:id="rId11"/>
    <p:sldId id="270" r:id="rId12"/>
    <p:sldId id="280" r:id="rId13"/>
    <p:sldId id="281" r:id="rId14"/>
    <p:sldId id="283" r:id="rId15"/>
    <p:sldId id="284" r:id="rId16"/>
    <p:sldId id="285" r:id="rId17"/>
    <p:sldId id="282" r:id="rId18"/>
    <p:sldId id="272" r:id="rId19"/>
    <p:sldId id="273" r:id="rId20"/>
    <p:sldId id="274" r:id="rId21"/>
    <p:sldId id="275" r:id="rId22"/>
    <p:sldId id="277" r:id="rId23"/>
    <p:sldId id="278" r:id="rId24"/>
    <p:sldId id="286" r:id="rId25"/>
    <p:sldId id="279" r:id="rId26"/>
    <p:sldId id="287" r:id="rId27"/>
    <p:sldId id="288" r:id="rId28"/>
    <p:sldId id="261" r:id="rId29"/>
    <p:sldId id="264" r:id="rId30"/>
    <p:sldId id="262" r:id="rId31"/>
    <p:sldId id="263" r:id="rId32"/>
    <p:sldId id="289" r:id="rId33"/>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09" autoAdjust="0"/>
    <p:restoredTop sz="76575" autoAdjust="0"/>
  </p:normalViewPr>
  <p:slideViewPr>
    <p:cSldViewPr snapToGrid="0">
      <p:cViewPr varScale="1">
        <p:scale>
          <a:sx n="52" d="100"/>
          <a:sy n="52" d="100"/>
        </p:scale>
        <p:origin x="32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xmlns:c16r2="http://schemas.microsoft.com/office/drawing/2015/06/char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58372040"/>
        <c:axId val="358371256"/>
      </c:scatterChart>
      <c:valAx>
        <c:axId val="358372040"/>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58371256"/>
        <c:crosses val="autoZero"/>
        <c:crossBetween val="midCat"/>
      </c:valAx>
      <c:valAx>
        <c:axId val="358371256"/>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58372040"/>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15/10/2025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dirty="0" smtClean="0"/>
              <a:t>Workshop por la tarde -&gt; es mas</a:t>
            </a:r>
            <a:r>
              <a:rPr lang="es-MX" baseline="0" dirty="0" smtClean="0"/>
              <a:t> como un “taller para entrenamiento” tipo laboratorio y </a:t>
            </a:r>
            <a:r>
              <a:rPr lang="es-MX" baseline="0" dirty="0" err="1" smtClean="0"/>
              <a:t>tmb</a:t>
            </a:r>
            <a:r>
              <a:rPr lang="es-MX" baseline="0" dirty="0" smtClean="0"/>
              <a:t> vemos ejercicios </a:t>
            </a:r>
          </a:p>
          <a:p>
            <a:r>
              <a:rPr lang="es-MX" baseline="0" dirty="0" smtClean="0"/>
              <a:t>Seminario por la mañana -&gt; vemos la teoría con un poco más de profundidad de porque suceden los fenómenos pero de manera condensada</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2BDB245-CECD-89CE-B664-2CC8D187A9BC}"/>
              </a:ext>
            </a:extLst>
          </p:cNvPr>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xmlns="" id="{A7F57656-A1B3-EA52-D886-4E6C01672D26}"/>
              </a:ext>
            </a:extLst>
          </p:cNvPr>
          <p:cNvSpPr>
            <a:spLocks noGrp="1"/>
          </p:cNvSpPr>
          <p:nvPr>
            <p:ph type="sldNum" sz="quarter" idx="5"/>
          </p:nvPr>
        </p:nvSpPr>
        <p:spPr/>
        <p:txBody>
          <a:bodyPr/>
          <a:lstStyle/>
          <a:p>
            <a:fld id="{DB28F327-BEE5-45AC-9CE6-84AF0ACB1493}" type="slidenum">
              <a:rPr lang="es-MX" smtClean="0"/>
              <a:t>7</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CA16216-C1B7-06B6-1C48-21A033CE44B4}"/>
              </a:ext>
            </a:extLst>
          </p:cNvPr>
          <p:cNvSpPr>
            <a:spLocks noGrp="1"/>
          </p:cNvSpPr>
          <p:nvPr>
            <p:ph type="sldNum" sz="quarter" idx="5"/>
          </p:nvPr>
        </p:nvSpPr>
        <p:spPr/>
        <p:txBody>
          <a:bodyPr/>
          <a:lstStyle/>
          <a:p>
            <a:fld id="{DB28F327-BEE5-45AC-9CE6-84AF0ACB1493}" type="slidenum">
              <a:rPr lang="es-MX" smtClean="0"/>
              <a:t>8</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2A9A8C79-6B0F-1272-769E-1604E7A38E7E}"/>
              </a:ext>
            </a:extLst>
          </p:cNvPr>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E07417BD-5542-D618-A913-46D99F70A70D}"/>
              </a:ext>
            </a:extLst>
          </p:cNvPr>
          <p:cNvSpPr>
            <a:spLocks noGrp="1"/>
          </p:cNvSpPr>
          <p:nvPr>
            <p:ph type="sldNum" sz="quarter" idx="5"/>
          </p:nvPr>
        </p:nvSpPr>
        <p:spPr/>
        <p:txBody>
          <a:bodyPr/>
          <a:lstStyle/>
          <a:p>
            <a:fld id="{DB28F327-BEE5-45AC-9CE6-84AF0ACB1493}" type="slidenum">
              <a:rPr lang="es-MX" smtClean="0"/>
              <a:t>10</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A08AA826-DE5D-8987-747F-54A3BB500240}"/>
              </a:ext>
            </a:extLst>
          </p:cNvPr>
          <p:cNvSpPr>
            <a:spLocks noGrp="1"/>
          </p:cNvSpPr>
          <p:nvPr>
            <p:ph type="sldNum" sz="quarter" idx="5"/>
          </p:nvPr>
        </p:nvSpPr>
        <p:spPr/>
        <p:txBody>
          <a:bodyPr/>
          <a:lstStyle/>
          <a:p>
            <a:fld id="{DB28F327-BEE5-45AC-9CE6-84AF0ACB1493}" type="slidenum">
              <a:rPr lang="es-MX" smtClean="0"/>
              <a:t>11</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9664074F-D602-7BA4-F9BA-23096A9C6A38}"/>
              </a:ext>
            </a:extLst>
          </p:cNvPr>
          <p:cNvSpPr>
            <a:spLocks noGrp="1"/>
          </p:cNvSpPr>
          <p:nvPr>
            <p:ph type="sldNum" sz="quarter" idx="5"/>
          </p:nvPr>
        </p:nvSpPr>
        <p:spPr/>
        <p:txBody>
          <a:bodyPr/>
          <a:lstStyle/>
          <a:p>
            <a:fld id="{DB28F327-BEE5-45AC-9CE6-84AF0ACB1493}" type="slidenum">
              <a:rPr lang="es-MX" smtClean="0"/>
              <a:t>12</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7F45A3EC-518F-4874-4E15-BD41DD47172C}"/>
              </a:ext>
            </a:extLst>
          </p:cNvPr>
          <p:cNvSpPr>
            <a:spLocks noGrp="1"/>
          </p:cNvSpPr>
          <p:nvPr>
            <p:ph type="sldNum" sz="quarter" idx="5"/>
          </p:nvPr>
        </p:nvSpPr>
        <p:spPr/>
        <p:txBody>
          <a:bodyPr/>
          <a:lstStyle/>
          <a:p>
            <a:fld id="{DB28F327-BEE5-45AC-9CE6-84AF0ACB1493}" type="slidenum">
              <a:rPr lang="es-MX" smtClean="0"/>
              <a:t>13</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9613C39C-8B5F-3765-1484-F2205D391090}"/>
              </a:ext>
            </a:extLst>
          </p:cNvPr>
          <p:cNvSpPr>
            <a:spLocks noGrp="1"/>
          </p:cNvSpPr>
          <p:nvPr>
            <p:ph type="sldNum" sz="quarter" idx="5"/>
          </p:nvPr>
        </p:nvSpPr>
        <p:spPr/>
        <p:txBody>
          <a:bodyPr/>
          <a:lstStyle/>
          <a:p>
            <a:fld id="{DB28F327-BEE5-45AC-9CE6-84AF0ACB1493}" type="slidenum">
              <a:rPr lang="es-MX" smtClean="0"/>
              <a:t>14</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406BC02-B764-5E67-CBC6-E22C444008BB}"/>
              </a:ext>
            </a:extLst>
          </p:cNvPr>
          <p:cNvSpPr>
            <a:spLocks noGrp="1"/>
          </p:cNvSpPr>
          <p:nvPr>
            <p:ph type="sldNum" sz="quarter" idx="5"/>
          </p:nvPr>
        </p:nvSpPr>
        <p:spPr/>
        <p:txBody>
          <a:bodyPr/>
          <a:lstStyle/>
          <a:p>
            <a:fld id="{DB28F327-BEE5-45AC-9CE6-84AF0ACB1493}" type="slidenum">
              <a:rPr lang="es-MX" smtClean="0"/>
              <a:t>15</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652DCEEE-E07C-E210-6E45-2CC589218B89}"/>
              </a:ext>
            </a:extLst>
          </p:cNvPr>
          <p:cNvSpPr>
            <a:spLocks noGrp="1"/>
          </p:cNvSpPr>
          <p:nvPr>
            <p:ph type="sldNum" sz="quarter" idx="5"/>
          </p:nvPr>
        </p:nvSpPr>
        <p:spPr/>
        <p:txBody>
          <a:bodyPr/>
          <a:lstStyle/>
          <a:p>
            <a:fld id="{DB28F327-BEE5-45AC-9CE6-84AF0ACB1493}" type="slidenum">
              <a:rPr lang="es-MX" smtClean="0"/>
              <a:t>16</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17A06162-F436-5B7E-9088-189F02566719}"/>
              </a:ext>
            </a:extLst>
          </p:cNvPr>
          <p:cNvSpPr>
            <a:spLocks noGrp="1"/>
          </p:cNvSpPr>
          <p:nvPr>
            <p:ph type="sldNum" sz="quarter" idx="5"/>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xmlns="" id="{623A789C-4886-A0E5-19F8-9831EADBA6A6}"/>
              </a:ext>
            </a:extLst>
          </p:cNvPr>
          <p:cNvSpPr>
            <a:spLocks noGrp="1"/>
          </p:cNvSpPr>
          <p:nvPr>
            <p:ph type="sldNum" sz="quarter" idx="5"/>
          </p:nvPr>
        </p:nvSpPr>
        <p:spPr/>
        <p:txBody>
          <a:bodyPr/>
          <a:lstStyle/>
          <a:p>
            <a:fld id="{DB28F327-BEE5-45AC-9CE6-84AF0ACB1493}" type="slidenum">
              <a:rPr lang="es-MX" smtClean="0"/>
              <a:t>18</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BE456964-3528-D9A1-7629-89B88C0007C0}"/>
              </a:ext>
            </a:extLst>
          </p:cNvPr>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704A619-3851-BE3A-0E11-A37FFBF75140}"/>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B90464B-C3A1-A13C-0087-D33DBA175332}"/>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23C1211-D21A-F39B-CA9C-2B2EBF97B8F1}"/>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E01E37A-A885-024B-3CE1-005FB890C64A}"/>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03598296-8EC7-E502-6F68-E99DAF522D72}"/>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4609BF8-7980-12F8-2456-9CB5C9E586DC}"/>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E125C349-FDA0-328B-61A4-41A3D521F7BE}"/>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897523A9-CFD7-7340-FF11-FB4447A3F7A3}"/>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xmlns=""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xmlns="" id="{464258EB-91E8-2924-CBD4-96B87E7215B3}"/>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5" name="Marcador de pie de página 4">
            <a:extLst>
              <a:ext uri="{FF2B5EF4-FFF2-40B4-BE49-F238E27FC236}">
                <a16:creationId xmlns:a16="http://schemas.microsoft.com/office/drawing/2014/main" xmlns=""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1FBF5EA1-958A-FE14-14ED-F5DDBBF4E116}"/>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5" name="Marcador de pie de página 4">
            <a:extLst>
              <a:ext uri="{FF2B5EF4-FFF2-40B4-BE49-F238E27FC236}">
                <a16:creationId xmlns:a16="http://schemas.microsoft.com/office/drawing/2014/main" xmlns=""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xmlns="" id="{66983407-AB5D-BF9A-FBAB-084762521C54}"/>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5" name="Marcador de pie de página 4">
            <a:extLst>
              <a:ext uri="{FF2B5EF4-FFF2-40B4-BE49-F238E27FC236}">
                <a16:creationId xmlns:a16="http://schemas.microsoft.com/office/drawing/2014/main" xmlns=""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xmlns=""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xmlns="" id="{2287A35D-19C4-6423-2182-6F7AEF7D868A}"/>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6" name="Marcador de pie de página 5">
            <a:extLst>
              <a:ext uri="{FF2B5EF4-FFF2-40B4-BE49-F238E27FC236}">
                <a16:creationId xmlns:a16="http://schemas.microsoft.com/office/drawing/2014/main" xmlns=""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xmlns=""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xmlns=""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xmlns=""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xmlns="" id="{46408DFA-ED9B-85E0-43F4-D76EC22CA284}"/>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8" name="Marcador de pie de página 7">
            <a:extLst>
              <a:ext uri="{FF2B5EF4-FFF2-40B4-BE49-F238E27FC236}">
                <a16:creationId xmlns:a16="http://schemas.microsoft.com/office/drawing/2014/main" xmlns=""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xmlns=""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xmlns="" id="{1C518C19-B858-A8DC-36D3-86800D8685BC}"/>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4" name="Marcador de pie de página 3">
            <a:extLst>
              <a:ext uri="{FF2B5EF4-FFF2-40B4-BE49-F238E27FC236}">
                <a16:creationId xmlns:a16="http://schemas.microsoft.com/office/drawing/2014/main" xmlns=""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xmlns=""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xmlns="" id="{DE40A591-B9B4-C1D0-2520-DB39CAD388E6}"/>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3" name="Marcador de pie de página 2">
            <a:extLst>
              <a:ext uri="{FF2B5EF4-FFF2-40B4-BE49-F238E27FC236}">
                <a16:creationId xmlns:a16="http://schemas.microsoft.com/office/drawing/2014/main" xmlns=""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xmlns=""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xmlns=""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E4AB8F47-7E0B-AC5B-B99B-1397BBF4E1B0}"/>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6" name="Marcador de pie de página 5">
            <a:extLst>
              <a:ext uri="{FF2B5EF4-FFF2-40B4-BE49-F238E27FC236}">
                <a16:creationId xmlns:a16="http://schemas.microsoft.com/office/drawing/2014/main" xmlns=""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xmlns=""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xmlns=""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61295AB3-0527-0650-4A5E-8E39C3FEBC5F}"/>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6" name="Marcador de pie de página 5">
            <a:extLst>
              <a:ext uri="{FF2B5EF4-FFF2-40B4-BE49-F238E27FC236}">
                <a16:creationId xmlns:a16="http://schemas.microsoft.com/office/drawing/2014/main" xmlns=""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C0D93516-4160-7AF2-1AD2-1717A1759DF3}"/>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5" name="Marcador de pie de página 4">
            <a:extLst>
              <a:ext uri="{FF2B5EF4-FFF2-40B4-BE49-F238E27FC236}">
                <a16:creationId xmlns:a16="http://schemas.microsoft.com/office/drawing/2014/main" xmlns=""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EB7BDC0A-C2D7-3843-E6F7-DF6981CF3BDF}"/>
              </a:ext>
            </a:extLst>
          </p:cNvPr>
          <p:cNvSpPr>
            <a:spLocks noGrp="1"/>
          </p:cNvSpPr>
          <p:nvPr>
            <p:ph type="dt" sz="half" idx="10"/>
          </p:nvPr>
        </p:nvSpPr>
        <p:spPr/>
        <p:txBody>
          <a:bodyPr/>
          <a:lstStyle/>
          <a:p>
            <a:fld id="{ABDDA2F0-ADA3-4A09-A4A4-0854B4A15306}" type="datetimeFigureOut">
              <a:rPr lang="es-MX" smtClean="0"/>
              <a:t>15/10/2025</a:t>
            </a:fld>
            <a:endParaRPr lang="es-MX"/>
          </a:p>
        </p:txBody>
      </p:sp>
      <p:sp>
        <p:nvSpPr>
          <p:cNvPr id="5" name="Marcador de pie de página 4">
            <a:extLst>
              <a:ext uri="{FF2B5EF4-FFF2-40B4-BE49-F238E27FC236}">
                <a16:creationId xmlns:a16="http://schemas.microsoft.com/office/drawing/2014/main" xmlns=""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xmlns=""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15/10/2025</a:t>
            </a:fld>
            <a:endParaRPr lang="es-MX"/>
          </a:p>
        </p:txBody>
      </p:sp>
      <p:sp>
        <p:nvSpPr>
          <p:cNvPr id="5" name="Marcador de pie de página 4">
            <a:extLst>
              <a:ext uri="{FF2B5EF4-FFF2-40B4-BE49-F238E27FC236}">
                <a16:creationId xmlns:a16="http://schemas.microsoft.com/office/drawing/2014/main" xmlns=""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xmlns=""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jpe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22.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3.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ubtítulo 2">
            <a:extLst>
              <a:ext uri="{FF2B5EF4-FFF2-40B4-BE49-F238E27FC236}">
                <a16:creationId xmlns:a16="http://schemas.microsoft.com/office/drawing/2014/main" xmlns="" id="{ECC718EC-22DC-2FC1-E7BF-660F4465FB20}"/>
              </a:ext>
            </a:extLst>
          </p:cNvPr>
          <p:cNvSpPr txBox="1">
            <a:spLocks/>
          </p:cNvSpPr>
          <p:nvPr/>
        </p:nvSpPr>
        <p:spPr>
          <a:xfrm>
            <a:off x="3429001" y="6608763"/>
            <a:ext cx="8763000" cy="249237"/>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pic>
        <p:nvPicPr>
          <p:cNvPr id="1028" name="Picture 4" descr="Uanl vector logo - Uanl logo vector free download">
            <a:extLst>
              <a:ext uri="{FF2B5EF4-FFF2-40B4-BE49-F238E27FC236}">
                <a16:creationId xmlns:a16="http://schemas.microsoft.com/office/drawing/2014/main" xmlns="" id="{A1EF89F4-4576-B62D-20F9-D2FF8A2E246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4470" y="116410"/>
            <a:ext cx="1392352" cy="139235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p:cNvGrpSpPr/>
          <p:nvPr/>
        </p:nvGrpSpPr>
        <p:grpSpPr>
          <a:xfrm>
            <a:off x="8167607" y="358129"/>
            <a:ext cx="3586411" cy="1150632"/>
            <a:chOff x="8167607" y="358129"/>
            <a:chExt cx="3586411" cy="1150632"/>
          </a:xfrm>
        </p:grpSpPr>
        <p:grpSp>
          <p:nvGrpSpPr>
            <p:cNvPr id="14" name="Grupo 13">
              <a:extLst>
                <a:ext uri="{FF2B5EF4-FFF2-40B4-BE49-F238E27FC236}">
                  <a16:creationId xmlns:a16="http://schemas.microsoft.com/office/drawing/2014/main" xmlns="" id="{7618CDC3-6984-FA21-1D90-EF5639665330}"/>
                </a:ext>
              </a:extLst>
            </p:cNvPr>
            <p:cNvGrpSpPr/>
            <p:nvPr/>
          </p:nvGrpSpPr>
          <p:grpSpPr>
            <a:xfrm>
              <a:off x="9418206" y="358577"/>
              <a:ext cx="2335812" cy="1150184"/>
              <a:chOff x="1684479" y="280948"/>
              <a:chExt cx="2491447" cy="1227814"/>
            </a:xfrm>
          </p:grpSpPr>
          <p:pic>
            <p:nvPicPr>
              <p:cNvPr id="1034" name="Picture 10" descr="Universidad Autónoma de Nuevo León">
                <a:extLst>
                  <a:ext uri="{FF2B5EF4-FFF2-40B4-BE49-F238E27FC236}">
                    <a16:creationId xmlns:a16="http://schemas.microsoft.com/office/drawing/2014/main" xmlns="" id="{614962FF-F8BC-8C60-D531-371C411ED9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0187" y="324724"/>
                <a:ext cx="1135739" cy="113573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sico Matematico Logo Símbolos Coloridos De La Matemáticas 3d Stock">
                <a:extLst>
                  <a:ext uri="{FF2B5EF4-FFF2-40B4-BE49-F238E27FC236}">
                    <a16:creationId xmlns:a16="http://schemas.microsoft.com/office/drawing/2014/main" xmlns="" id="{9DCF93C1-4712-9517-4CC0-A6074B26C461}"/>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61322" b="16922"/>
              <a:stretch/>
            </p:blipFill>
            <p:spPr bwMode="auto">
              <a:xfrm>
                <a:off x="1684479" y="280948"/>
                <a:ext cx="1195229" cy="1227814"/>
              </a:xfrm>
              <a:prstGeom prst="rect">
                <a:avLst/>
              </a:prstGeom>
              <a:noFill/>
              <a:extLst>
                <a:ext uri="{909E8E84-426E-40DD-AFC4-6F175D3DCCD1}">
                  <a14:hiddenFill xmlns:a14="http://schemas.microsoft.com/office/drawing/2010/main">
                    <a:solidFill>
                      <a:srgbClr val="FFFFFF"/>
                    </a:solidFill>
                  </a14:hiddenFill>
                </a:ext>
              </a:extLst>
            </p:spPr>
          </p:pic>
        </p:grpSp>
        <p:pic>
          <p:nvPicPr>
            <p:cNvPr id="4" name="Picture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67607" y="358129"/>
              <a:ext cx="1100145" cy="1099565"/>
            </a:xfrm>
            <a:prstGeom prst="rect">
              <a:avLst/>
            </a:prstGeom>
          </p:spPr>
        </p:pic>
      </p:grpSp>
      <p:sp>
        <p:nvSpPr>
          <p:cNvPr id="2" name="Título 1">
            <a:extLst>
              <a:ext uri="{FF2B5EF4-FFF2-40B4-BE49-F238E27FC236}">
                <a16:creationId xmlns:a16="http://schemas.microsoft.com/office/drawing/2014/main" xmlns="" id="{5EF8233C-F3DA-2ABC-9288-4BCD7433344C}"/>
              </a:ext>
            </a:extLst>
          </p:cNvPr>
          <p:cNvSpPr>
            <a:spLocks noGrp="1"/>
          </p:cNvSpPr>
          <p:nvPr>
            <p:ph type="ctrTitle"/>
          </p:nvPr>
        </p:nvSpPr>
        <p:spPr>
          <a:xfrm>
            <a:off x="1524000" y="1508761"/>
            <a:ext cx="9144000" cy="2389822"/>
          </a:xfrm>
        </p:spPr>
        <p:txBody>
          <a:bodyPr>
            <a:noAutofit/>
          </a:bodyPr>
          <a:lstStyle/>
          <a:p>
            <a:r>
              <a:rPr lang="es-MX" sz="5400" dirty="0">
                <a:latin typeface="Times New Roman" panose="02020603050405020304" pitchFamily="18" charset="0"/>
                <a:cs typeface="Times New Roman" panose="02020603050405020304" pitchFamily="18" charset="0"/>
              </a:rPr>
              <a:t>DYNX - HPRT</a:t>
            </a:r>
            <a:br>
              <a:rPr lang="es-MX" sz="5400" dirty="0">
                <a:latin typeface="Times New Roman" panose="02020603050405020304" pitchFamily="18" charset="0"/>
                <a:cs typeface="Times New Roman" panose="02020603050405020304" pitchFamily="18" charset="0"/>
              </a:rPr>
            </a:br>
            <a:r>
              <a:rPr lang="es-MX" sz="5400" dirty="0">
                <a:latin typeface="Times New Roman" panose="02020603050405020304" pitchFamily="18" charset="0"/>
                <a:cs typeface="Times New Roman" panose="02020603050405020304" pitchFamily="18" charset="0"/>
              </a:rPr>
              <a:t>R&amp;D - Propulsión</a:t>
            </a:r>
            <a:br>
              <a:rPr lang="es-MX" sz="5400" dirty="0">
                <a:latin typeface="Times New Roman" panose="02020603050405020304" pitchFamily="18" charset="0"/>
                <a:cs typeface="Times New Roman" panose="02020603050405020304" pitchFamily="18" charset="0"/>
              </a:rPr>
            </a:br>
            <a:r>
              <a:rPr lang="es-MX" sz="5400" dirty="0">
                <a:latin typeface="Times New Roman" panose="02020603050405020304" pitchFamily="18" charset="0"/>
                <a:cs typeface="Times New Roman" panose="02020603050405020304" pitchFamily="18" charset="0"/>
              </a:rPr>
              <a:t>Programa </a:t>
            </a:r>
            <a:r>
              <a:rPr lang="es-MX" sz="5400" dirty="0" err="1">
                <a:latin typeface="Times New Roman" panose="02020603050405020304" pitchFamily="18" charset="0"/>
                <a:cs typeface="Times New Roman" panose="02020603050405020304" pitchFamily="18" charset="0"/>
              </a:rPr>
              <a:t>Flammam</a:t>
            </a:r>
            <a:endParaRPr lang="es-MX" sz="5400" dirty="0">
              <a:latin typeface="Times New Roman" panose="02020603050405020304" pitchFamily="18" charset="0"/>
              <a:cs typeface="Times New Roman" panose="02020603050405020304" pitchFamily="18" charset="0"/>
            </a:endParaRPr>
          </a:p>
        </p:txBody>
      </p:sp>
      <p:sp>
        <p:nvSpPr>
          <p:cNvPr id="3" name="Subtítulo 2">
            <a:extLst>
              <a:ext uri="{FF2B5EF4-FFF2-40B4-BE49-F238E27FC236}">
                <a16:creationId xmlns:a16="http://schemas.microsoft.com/office/drawing/2014/main" xmlns="" id="{EC6C3CBE-087A-6EFC-794A-BF6D55DB7543}"/>
              </a:ext>
            </a:extLst>
          </p:cNvPr>
          <p:cNvSpPr>
            <a:spLocks noGrp="1"/>
          </p:cNvSpPr>
          <p:nvPr>
            <p:ph type="subTitle" idx="1"/>
          </p:nvPr>
        </p:nvSpPr>
        <p:spPr>
          <a:xfrm>
            <a:off x="1524000" y="3990658"/>
            <a:ext cx="9144000" cy="1655762"/>
          </a:xfrm>
        </p:spPr>
        <p:txBody>
          <a:bodyPr>
            <a:normAutofit/>
          </a:bodyPr>
          <a:lstStyle/>
          <a:p>
            <a:r>
              <a:rPr lang="es-MX" sz="3400" dirty="0" smtClean="0">
                <a:latin typeface="Times New Roman" panose="02020603050405020304" pitchFamily="18" charset="0"/>
                <a:cs typeface="Times New Roman" panose="02020603050405020304" pitchFamily="18" charset="0"/>
              </a:rPr>
              <a:t>Seminario técnico</a:t>
            </a:r>
            <a:endParaRPr lang="es-MX" sz="3400" dirty="0">
              <a:latin typeface="Times New Roman" panose="02020603050405020304" pitchFamily="18" charset="0"/>
              <a:cs typeface="Times New Roman" panose="02020603050405020304" pitchFamily="18" charset="0"/>
            </a:endParaRPr>
          </a:p>
          <a:p>
            <a:r>
              <a:rPr lang="es-ES" sz="3400" dirty="0" smtClean="0">
                <a:latin typeface="Times New Roman" panose="02020603050405020304" pitchFamily="18" charset="0"/>
                <a:cs typeface="Times New Roman" panose="02020603050405020304" pitchFamily="18" charset="0"/>
              </a:rPr>
              <a:t>Diseño y manufactura de motores cohete de </a:t>
            </a:r>
            <a:r>
              <a:rPr lang="es-ES" sz="3400" dirty="0" err="1" smtClean="0">
                <a:latin typeface="Times New Roman" panose="02020603050405020304" pitchFamily="18" charset="0"/>
                <a:cs typeface="Times New Roman" panose="02020603050405020304" pitchFamily="18" charset="0"/>
              </a:rPr>
              <a:t>propelente</a:t>
            </a:r>
            <a:r>
              <a:rPr lang="es-ES" sz="3400" dirty="0" smtClean="0">
                <a:latin typeface="Times New Roman" panose="02020603050405020304" pitchFamily="18" charset="0"/>
                <a:cs typeface="Times New Roman" panose="02020603050405020304" pitchFamily="18" charset="0"/>
              </a:rPr>
              <a:t> solido</a:t>
            </a:r>
            <a:r>
              <a:rPr lang="es-MX" sz="3400" dirty="0" smtClean="0">
                <a:latin typeface="Times New Roman" panose="02020603050405020304" pitchFamily="18" charset="0"/>
                <a:cs typeface="Times New Roman" panose="02020603050405020304" pitchFamily="18" charset="0"/>
              </a:rPr>
              <a:t> simples y en metal</a:t>
            </a:r>
            <a:endParaRPr lang="es-MX" sz="3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xmlns=""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i="1" dirty="0" smtClean="0">
                <a:latin typeface="Times New Roman" panose="02020603050405020304" pitchFamily="18" charset="0"/>
                <a:cs typeface="Times New Roman" panose="02020603050405020304" pitchFamily="18" charset="0"/>
              </a:rPr>
              <a:t>Meeting US</a:t>
            </a:r>
            <a:endParaRPr lang="es-MX" sz="2400" i="1" dirty="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Antecedentes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1. Fundamentos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2.  Teoría de toberas y relaciones </a:t>
            </a:r>
            <a:r>
              <a:rPr lang="es-MX" sz="2400" dirty="0" smtClean="0">
                <a:latin typeface="Times New Roman" panose="02020603050405020304" pitchFamily="18" charset="0"/>
                <a:cs typeface="Times New Roman" panose="02020603050405020304" pitchFamily="18" charset="0"/>
              </a:rPr>
              <a:t>termodinámicas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Break</a:t>
            </a:r>
            <a:endParaRPr lang="es-MX" sz="2400" dirty="0" smtClean="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3. MCS (SRM) términos y fundamentos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4. Combustión y </a:t>
            </a:r>
            <a:r>
              <a:rPr lang="es-MX" sz="2400" dirty="0" err="1" smtClean="0">
                <a:latin typeface="Times New Roman" panose="02020603050405020304" pitchFamily="18" charset="0"/>
                <a:cs typeface="Times New Roman" panose="02020603050405020304" pitchFamily="18" charset="0"/>
              </a:rPr>
              <a:t>propelentes</a:t>
            </a:r>
            <a:endParaRPr lang="es-MX" sz="2400" dirty="0" smtClean="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Break</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5.MCS componentes y diseño</a:t>
            </a:r>
            <a:endParaRPr lang="es-MX" sz="2400" dirty="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6, Caso de estudio </a:t>
            </a:r>
            <a:r>
              <a:rPr lang="es-MX" sz="2400" dirty="0" smtClean="0">
                <a:latin typeface="Times New Roman" panose="02020603050405020304" pitchFamily="18" charset="0"/>
                <a:cs typeface="Times New Roman" panose="02020603050405020304" pitchFamily="18" charset="0"/>
              </a:rPr>
              <a:t>e introducción al Workshop</a:t>
            </a:r>
            <a:endParaRPr lang="es-MX" sz="24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xmlns=""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0F0C23-FE50-8839-B107-C21CD5459C01}"/>
              </a:ext>
            </a:extLst>
          </p:cNvPr>
          <p:cNvSpPr>
            <a:spLocks noGrp="1"/>
          </p:cNvSpPr>
          <p:nvPr>
            <p:ph type="title"/>
          </p:nvPr>
        </p:nvSpPr>
        <p:spPr>
          <a:xfrm>
            <a:off x="838200" y="365125"/>
            <a:ext cx="10515600" cy="708301"/>
          </a:xfrm>
        </p:spPr>
        <p:txBody>
          <a:bodyPr>
            <a:noAutofit/>
          </a:bodyPr>
          <a:lstStyle/>
          <a:p>
            <a:r>
              <a:rPr lang="es-MX" sz="3400" i="1" dirty="0" smtClean="0">
                <a:latin typeface="Times New Roman" panose="02020603050405020304" pitchFamily="18" charset="0"/>
                <a:cs typeface="Times New Roman" panose="02020603050405020304" pitchFamily="18" charset="0"/>
              </a:rPr>
              <a:t>Meeting US</a:t>
            </a:r>
            <a:endParaRPr lang="es-MX" sz="3400" i="1" dirty="0">
              <a:latin typeface="Times New Roman" panose="02020603050405020304" pitchFamily="18" charset="0"/>
              <a:cs typeface="Times New Roman" panose="02020603050405020304" pitchFamily="18" charset="0"/>
            </a:endParaRPr>
          </a:p>
        </p:txBody>
      </p:sp>
      <p:sp>
        <p:nvSpPr>
          <p:cNvPr id="3" name="Marcador de contenido 2">
            <a:extLst>
              <a:ext uri="{FF2B5EF4-FFF2-40B4-BE49-F238E27FC236}">
                <a16:creationId xmlns:a16="http://schemas.microsoft.com/office/drawing/2014/main" xmlns="" id="{3D773A57-4E75-6D1E-BD6A-ACA49DF5A864}"/>
              </a:ext>
            </a:extLst>
          </p:cNvPr>
          <p:cNvSpPr>
            <a:spLocks noGrp="1"/>
          </p:cNvSpPr>
          <p:nvPr>
            <p:ph sz="half" idx="1"/>
          </p:nvPr>
        </p:nvSpPr>
        <p:spPr>
          <a:xfrm>
            <a:off x="838200" y="1311965"/>
            <a:ext cx="10515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31207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xmlns=""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smtClean="0">
                <a:latin typeface="Times New Roman" panose="02020603050405020304" pitchFamily="18" charset="0"/>
                <a:cs typeface="Times New Roman" panose="02020603050405020304" pitchFamily="18" charset="0"/>
              </a:rPr>
              <a:t>castable</a:t>
            </a:r>
            <a:r>
              <a:rPr lang="es-ES" sz="2000" dirty="0" smtClean="0">
                <a:latin typeface="Times New Roman" panose="02020603050405020304" pitchFamily="18" charset="0"/>
                <a:cs typeface="Times New Roman" panose="02020603050405020304" pitchFamily="18" charset="0"/>
              </a:rPr>
              <a:t> </a:t>
            </a:r>
            <a:r>
              <a:rPr lang="es-ES" sz="2000" dirty="0">
                <a:latin typeface="Times New Roman" panose="02020603050405020304" pitchFamily="18" charset="0"/>
                <a:cs typeface="Times New Roman" panose="02020603050405020304" pitchFamily="18" charset="0"/>
              </a:rPr>
              <a:t>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xmlns=""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xmlns=""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xmlns=""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xmlns=""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xmlns=""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xmlns=""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xmlns=""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xmlns=""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xmlns=""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xmlns=""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xmlns=""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xmlns=""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xmlns=""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xmlns=""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xmlns="" val="4231280534"/>
                        </a:ext>
                      </a:extLst>
                    </a:gridCol>
                    <a:gridCol w="1170305">
                      <a:extLst>
                        <a:ext uri="{9D8B030D-6E8A-4147-A177-3AD203B41FA5}">
                          <a16:colId xmlns:a16="http://schemas.microsoft.com/office/drawing/2014/main" xmlns="" val="1923169229"/>
                        </a:ext>
                      </a:extLst>
                    </a:gridCol>
                    <a:gridCol w="2041144">
                      <a:extLst>
                        <a:ext uri="{9D8B030D-6E8A-4147-A177-3AD203B41FA5}">
                          <a16:colId xmlns:a16="http://schemas.microsoft.com/office/drawing/2014/main" xmlns="" val="3299784387"/>
                        </a:ext>
                      </a:extLst>
                    </a:gridCol>
                    <a:gridCol w="1843237">
                      <a:extLst>
                        <a:ext uri="{9D8B030D-6E8A-4147-A177-3AD203B41FA5}">
                          <a16:colId xmlns:a16="http://schemas.microsoft.com/office/drawing/2014/main" xmlns=""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xmlns=""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xmlns=""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xmlns=""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xmlns=""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xmlns=""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xmlns=""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xmlns=""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xmlns=""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xmlns=""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xmlns=""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xmlns=""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xmlns=""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xmlns=""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xmlns=""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xmlns=""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xmlns=""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xmlns=""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xmlns=""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xmlns=""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xmlns=""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xmlns=""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xmlns=""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xmlns=""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xmlns=""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xmlns=""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xmlns=""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xmlns=""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xmlns=""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xmlns=""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xmlns=""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xmlns=""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xmlns=""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xmlns=""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xmlns=""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xmlns=""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xmlns=""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xmlns=""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xmlns=""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xmlns=""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xmlns=""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xmlns=""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xmlns=""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xmlns=""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xmlns=""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xmlns=""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xmlns=""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xmlns=""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xmlns=""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xmlns=""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xmlns=""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xmlns=""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xmlns=""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xmlns=""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xmlns=""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xmlns=""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xmlns=""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xmlns=""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xmlns=""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xmlns=""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xmlns=""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xmlns=""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xmlns=""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xmlns=""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xmlns=""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xmlns=""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xmlns=""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xmlns=""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xmlns=""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xmlns=""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xmlns=""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xmlns=""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xmlns=""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xmlns=""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xmlns=""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xmlns=""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xmlns=""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xmlns=""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xmlns=""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xmlns=""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xmlns=""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xmlns=""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xmlns=""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xmlns=""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xmlns=""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xmlns=""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xmlns=""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xmlns=""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xmlns=""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xmlns=""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xmlns=""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xmlns=""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xmlns=""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xmlns=""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xmlns=""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xmlns=""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xmlns=""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xmlns=""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xmlns=""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xmlns=""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xmlns=""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xmlns=""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xmlns=""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xmlns=""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xmlns=""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xmlns="" val="2002694834"/>
                        </a:ext>
                      </a:extLst>
                    </a:gridCol>
                    <a:gridCol w="2389876">
                      <a:extLst>
                        <a:ext uri="{9D8B030D-6E8A-4147-A177-3AD203B41FA5}">
                          <a16:colId xmlns:a16="http://schemas.microsoft.com/office/drawing/2014/main" xmlns=""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xmlns=""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xmlns=""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xmlns=""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xmlns=""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xmlns=""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xmlns=""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xmlns=""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xmlns=""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xmlns=""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xmlns=""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xmlns=""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xmlns=""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xmlns=""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xmlns=""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xmlns=""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xmlns=""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xmlns="" id="{DE950F92-179A-6A18-9630-BAB1FD13673F}"/>
              </a:ext>
            </a:extLst>
          </p:cNvPr>
          <p:cNvSpPr>
            <a:spLocks noGrp="1"/>
          </p:cNvSpPr>
          <p:nvPr>
            <p:ph sz="half" idx="1"/>
          </p:nvPr>
        </p:nvSpPr>
        <p:spPr/>
        <p:txBody>
          <a:bodyPr>
            <a:normAutofit fontScale="70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a:xfrm>
            <a:off x="838200" y="1690688"/>
            <a:ext cx="5181600" cy="4351338"/>
          </a:xfrm>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xmlns=""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xmlns=""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xmlns=""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1394</TotalTime>
  <Words>2012</Words>
  <Application>Microsoft Office PowerPoint</Application>
  <PresentationFormat>Widescreen</PresentationFormat>
  <Paragraphs>324</Paragraphs>
  <Slides>32</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Cambria Math</vt:lpstr>
      <vt:lpstr>Lucida Console</vt:lpstr>
      <vt:lpstr>Times New Roman</vt:lpstr>
      <vt:lpstr>Tema de Office</vt:lpstr>
      <vt:lpstr>DYNX - HPRT R&amp;D - Propulsión Programa Flammam</vt:lpstr>
      <vt:lpstr>Agenda</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Leonardo Valadez Ortiz</cp:lastModifiedBy>
  <cp:revision>39</cp:revision>
  <dcterms:created xsi:type="dcterms:W3CDTF">2025-05-21T21:17:18Z</dcterms:created>
  <dcterms:modified xsi:type="dcterms:W3CDTF">2025-10-15T19:38:12Z</dcterms:modified>
</cp:coreProperties>
</file>